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72" r:id="rId7"/>
    <p:sldId id="270" r:id="rId8"/>
    <p:sldId id="273" r:id="rId9"/>
    <p:sldId id="261" r:id="rId10"/>
    <p:sldId id="27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0" d="100"/>
          <a:sy n="60" d="100"/>
        </p:scale>
        <p:origin x="1460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54491"/>
            <a:ext cx="7772400" cy="1470025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Home Ease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74336" y="2271269"/>
            <a:ext cx="7395328" cy="4204175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Hashir Hamid                 CIIT/FA22-BSE-139/ATD</a:t>
            </a: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Aman </a:t>
            </a:r>
            <a:r>
              <a:rPr lang="en-US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ullah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khan            CIIT/FA22-BSE-074 /ATD</a:t>
            </a: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Umar Saeed                     CIIT/FA22-BCS-041 /ATD</a:t>
            </a:r>
          </a:p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Supervisor: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Sir Sumair khan</a:t>
            </a:r>
            <a:endParaRPr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</a:t>
            </a:r>
          </a:p>
          <a:p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COMSATS University Islamabad, Abbottabad Campus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6178" y="728201"/>
            <a:ext cx="996315" cy="99631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Agenda of the 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</a:p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Brief Introduction</a:t>
            </a:r>
          </a:p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Functionalities</a:t>
            </a:r>
          </a:p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Proposed Tools</a:t>
            </a:r>
          </a:p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Feasibility</a:t>
            </a:r>
          </a:p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Schedule</a:t>
            </a:r>
          </a:p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First iteration</a:t>
            </a:r>
          </a:p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Hiring domestic workers in Pakistan is mostly informal and based on personal references. Households often face trust and safety concerns while hiring workers.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no centralized mobile platform dedicated to home care services. Workers struggle to find stable and regular job opportunities.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hiring methods are time consuming and inefficient. There is a lack of transparency in worker experience, ratings, and pricing. Smartphones and mobile applications are becoming widely accessible in daily life.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Brief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just"/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HomeEase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hyper local mobile application designed to connect households with trusted domestic workers such as maids, cooks, cleaners, nannies, and caregivers.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application provides a digital platform where users can search, book, and communicate with nearby workers easily and securely. Workers can create professional profiles, manage availability, and receive job requests directly through the app. 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includes features such as worker verification, location based search, booking and scheduling, ratings and reviews, and real time notifications. 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HomeEase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aims to improve trust, transparency, and efficiency in the home care services sector while creating better job opportunities for workers.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7"/>
            <a:ext cx="8229600" cy="469641"/>
          </a:xfrm>
        </p:spPr>
        <p:txBody>
          <a:bodyPr>
            <a:normAutofit fontScale="90000"/>
          </a:bodyPr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41512"/>
            <a:ext cx="8229600" cy="4412512"/>
          </a:xfrm>
        </p:spPr>
        <p:txBody>
          <a:bodyPr>
            <a:noAutofit/>
          </a:bodyPr>
          <a:lstStyle/>
          <a:p>
            <a:pPr algn="just">
              <a:spcBef>
                <a:spcPts val="0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focuses on developing a mobile application for connecting households with domestic workers.</a:t>
            </a:r>
          </a:p>
          <a:p>
            <a:pPr algn="just">
              <a:spcBef>
                <a:spcPts val="0"/>
              </a:spcBef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allows households to search for nearby workers based on location, skills, ratings, and availability.</a:t>
            </a:r>
          </a:p>
          <a:p>
            <a:pPr algn="just">
              <a:spcBef>
                <a:spcPts val="0"/>
              </a:spcBef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Workers can create and manage professional profiles including experience, services, and pricing. </a:t>
            </a:r>
          </a:p>
          <a:p>
            <a:pPr algn="just">
              <a:spcBef>
                <a:spcPts val="0"/>
              </a:spcBef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application supports booking and scheduling of home care services through the mobile platform.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85C42-5A51-6FEE-440C-1A8DB3B03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7AFEAA-5E60-0052-C975-DAB9448E1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7"/>
            <a:ext cx="8229600" cy="469641"/>
          </a:xfrm>
        </p:spPr>
        <p:txBody>
          <a:bodyPr>
            <a:normAutofit fontScale="90000"/>
          </a:bodyPr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38F373-37A0-1C64-5DD1-85263A186C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1512"/>
            <a:ext cx="8229600" cy="4412512"/>
          </a:xfrm>
        </p:spPr>
        <p:txBody>
          <a:bodyPr>
            <a:no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can provide ratings and reviews after service completion to improve transparency and trust. 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mainly targets urban areas where smartphone usage and demand for home services are increasing. </a:t>
            </a:r>
            <a:endParaRPr lang="en-US" sz="20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20914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032DC5-5BE9-41B4-FEA7-CDE916AE28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114E3-CE97-BB53-E870-7075E0EDA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75325"/>
            <a:ext cx="8229600" cy="554702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 of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EB8209-25D5-75E0-9D67-0DDCEBE2AE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66873"/>
            <a:ext cx="8229600" cy="5594537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will not provide direct employment contracts between households and workers. 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payment and digital wallet integration will not be included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application will not provide transportation or logistics services for workers. 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 checks by government authorities or police verification are outside the project scope.</a:t>
            </a:r>
          </a:p>
          <a:p>
            <a:pPr marL="457200" indent="-457200">
              <a:buFont typeface="+mj-lt"/>
              <a:buAutoNum type="arabicPeriod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98380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1B0235-488A-A1FC-E98C-E84B8D4D55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FC0E0-2FC0-A30D-8B82-91602F3D97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75325"/>
            <a:ext cx="8229600" cy="554702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 of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4E768D-2034-74F5-E58B-47A0E30AAA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66873"/>
            <a:ext cx="8229600" cy="5594537"/>
          </a:xfrm>
        </p:spPr>
        <p:txBody>
          <a:bodyPr>
            <a:normAutofit/>
          </a:bodyPr>
          <a:lstStyle/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system will not include video calling or advanced real time communication features. 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application will not support web platform access in the initial release and will focus only on mobile devices.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project will not include AI based recommendations or automated worker selection</a:t>
            </a:r>
          </a:p>
        </p:txBody>
      </p:sp>
    </p:spTree>
    <p:extLst>
      <p:ext uri="{BB962C8B-B14F-4D97-AF65-F5344CB8AC3E}">
        <p14:creationId xmlns:p14="http://schemas.microsoft.com/office/powerpoint/2010/main" val="32468569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2075"/>
            <a:ext cx="8229600" cy="639762"/>
          </a:xfrm>
        </p:spPr>
        <p:txBody>
          <a:bodyPr>
            <a:normAutofit fontScale="90000"/>
          </a:bodyPr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20725"/>
            <a:ext cx="8229600" cy="5518297"/>
          </a:xfrm>
        </p:spPr>
        <p:txBody>
          <a:bodyPr>
            <a:normAutofit fontScale="85000" lnSpcReduction="20000"/>
          </a:bodyPr>
          <a:lstStyle/>
          <a:p>
            <a:pPr marL="514350" indent="-514350">
              <a:spcBef>
                <a:spcPts val="600"/>
              </a:spcBef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 and Role Management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registration, login, logout, and role based access for households and workers. 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spcBef>
                <a:spcPts val="600"/>
              </a:spcBef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Household User Management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Households can manage their profile, contact details, address, and booking history. 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spcBef>
                <a:spcPts val="600"/>
              </a:spcBef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Worker Profile Management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Workers can create and update profiles with skills, experience, services, and contact information. 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spcBef>
                <a:spcPts val="600"/>
              </a:spcBef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Worker Verification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Worker identity and profile details can be verified to build trust and reliability. 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spcBef>
                <a:spcPts val="600"/>
              </a:spcBef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 Category and Pricing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Workers can select service categories such as maid, cook, cleaner, nanny, and set expected charges. 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6962BF-1948-735D-C007-9B8AC73AF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01EB2-81CF-A100-7344-CAA308572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92075"/>
            <a:ext cx="8229600" cy="639762"/>
          </a:xfrm>
        </p:spPr>
        <p:txBody>
          <a:bodyPr>
            <a:normAutofit fontScale="90000"/>
          </a:bodyPr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Functionalities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(cont.)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A08BD1-47D2-0BD2-51E0-00A704B3E1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20726"/>
            <a:ext cx="8229600" cy="5105438"/>
          </a:xfrm>
        </p:spPr>
        <p:txBody>
          <a:bodyPr>
            <a:normAutofit fontScale="70000" lnSpcReduction="20000"/>
          </a:bodyPr>
          <a:lstStyle/>
          <a:p>
            <a:pPr marL="514350" indent="-514350">
              <a:buFont typeface="+mj-lt"/>
              <a:buAutoNum type="arabicPeriod" startAt="6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and Matching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Households can search and filter nearby workers based on  skills, availability, and ratings. </a:t>
            </a:r>
          </a:p>
          <a:p>
            <a:pPr marL="514350" indent="-514350">
              <a:buFont typeface="+mj-lt"/>
              <a:buAutoNum type="arabicPeriod" startAt="6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 startAt="6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Booking and Availability Management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Households can book services, while workers can accept, reject, and manage their availability. </a:t>
            </a:r>
          </a:p>
          <a:p>
            <a:pPr marL="514350" indent="-514350">
              <a:buFont typeface="+mj-lt"/>
              <a:buAutoNum type="arabicPeriod" startAt="6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 startAt="6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Rating and Review System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Households can rate and review workers after service completion.</a:t>
            </a:r>
          </a:p>
          <a:p>
            <a:pPr marL="514350" indent="-514350">
              <a:buFont typeface="+mj-lt"/>
              <a:buAutoNum type="arabicPeriod" startAt="6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 startAt="6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Notification, Communication and Admin Management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receive booking alerts and updates, communicate in app, and admins manage users and verification.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97581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07864"/>
          </a:xfrm>
        </p:spPr>
        <p:txBody>
          <a:bodyPr>
            <a:normAutofit fontScale="90000"/>
          </a:bodyPr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Tools/Platform</a:t>
            </a:r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58190183"/>
              </p:ext>
            </p:extLst>
          </p:nvPr>
        </p:nvGraphicFramePr>
        <p:xfrm>
          <a:off x="951721" y="1414021"/>
          <a:ext cx="7427169" cy="515846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475723">
                  <a:extLst>
                    <a:ext uri="{9D8B030D-6E8A-4147-A177-3AD203B41FA5}">
                      <a16:colId xmlns:a16="http://schemas.microsoft.com/office/drawing/2014/main" val="3502607374"/>
                    </a:ext>
                  </a:extLst>
                </a:gridCol>
                <a:gridCol w="2475723">
                  <a:extLst>
                    <a:ext uri="{9D8B030D-6E8A-4147-A177-3AD203B41FA5}">
                      <a16:colId xmlns:a16="http://schemas.microsoft.com/office/drawing/2014/main" val="1754163720"/>
                    </a:ext>
                  </a:extLst>
                </a:gridCol>
                <a:gridCol w="2475723">
                  <a:extLst>
                    <a:ext uri="{9D8B030D-6E8A-4147-A177-3AD203B41FA5}">
                      <a16:colId xmlns:a16="http://schemas.microsoft.com/office/drawing/2014/main" val="2268842715"/>
                    </a:ext>
                  </a:extLst>
                </a:gridCol>
              </a:tblGrid>
              <a:tr h="298378">
                <a:tc>
                  <a:txBody>
                    <a:bodyPr/>
                    <a:lstStyle/>
                    <a:p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Category</a:t>
                      </a:r>
                    </a:p>
                  </a:txBody>
                  <a:tcPr marL="70718" marR="70718" marT="35359" marB="353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Tools / Technologies</a:t>
                      </a:r>
                    </a:p>
                  </a:txBody>
                  <a:tcPr marL="70718" marR="70718" marT="35359" marB="353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Purpose</a:t>
                      </a:r>
                    </a:p>
                  </a:txBody>
                  <a:tcPr marL="70718" marR="70718" marT="35359" marB="353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2691950"/>
                  </a:ext>
                </a:extLst>
              </a:tr>
              <a:tr h="737536"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Frontend</a:t>
                      </a:r>
                    </a:p>
                  </a:txBody>
                  <a:tcPr marL="70718" marR="70718" marT="35359" marB="353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Flutter (Mobile), React.js (Web)</a:t>
                      </a:r>
                    </a:p>
                  </a:txBody>
                  <a:tcPr marL="70718" marR="70718" marT="35359" marB="353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 build cross-platform user interfaces for mobile and web users.</a:t>
                      </a:r>
                    </a:p>
                  </a:txBody>
                  <a:tcPr marL="70718" marR="70718" marT="35359" marB="353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9770686"/>
                  </a:ext>
                </a:extLst>
              </a:tr>
              <a:tr h="737536"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Backend</a:t>
                      </a:r>
                    </a:p>
                  </a:txBody>
                  <a:tcPr marL="70718" marR="70718" marT="35359" marB="353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Node.js (APIs)</a:t>
                      </a:r>
                    </a:p>
                  </a:txBody>
                  <a:tcPr marL="70718" marR="70718" marT="35359" marB="353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 handle server-side logic, APIs, and communication between components.</a:t>
                      </a:r>
                    </a:p>
                  </a:txBody>
                  <a:tcPr marL="70718" marR="70718" marT="35359" marB="353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2715187"/>
                  </a:ext>
                </a:extLst>
              </a:tr>
              <a:tr h="737536"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Database</a:t>
                      </a:r>
                    </a:p>
                  </a:txBody>
                  <a:tcPr marL="70718" marR="70718" marT="35359" marB="353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PostgreSQL</a:t>
                      </a:r>
                    </a:p>
                  </a:txBody>
                  <a:tcPr marL="70718" marR="70718" marT="35359" marB="353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 store and manage structured data such as users, hotels, and trips.</a:t>
                      </a:r>
                    </a:p>
                  </a:txBody>
                  <a:tcPr marL="70718" marR="70718" marT="35359" marB="353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5287345"/>
                  </a:ext>
                </a:extLst>
              </a:tr>
              <a:tr h="737536">
                <a:tc>
                  <a:txBody>
                    <a:bodyPr/>
                    <a:lstStyle/>
                    <a:p>
                      <a:r>
                        <a:rPr lang="en-US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Authentication &amp; Notifications</a:t>
                      </a:r>
                    </a:p>
                  </a:txBody>
                  <a:tcPr marL="70718" marR="70718" marT="35359" marB="353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supabase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0718" marR="70718" marT="35359" marB="353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 manage user sign-in, verification (KYC), and push notifications.</a:t>
                      </a:r>
                    </a:p>
                  </a:txBody>
                  <a:tcPr marL="70718" marR="70718" marT="35359" marB="353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0907661"/>
                  </a:ext>
                </a:extLst>
              </a:tr>
              <a:tr h="737536">
                <a:tc>
                  <a:txBody>
                    <a:bodyPr/>
                    <a:lstStyle/>
                    <a:p>
                      <a:r>
                        <a:rPr lang="en-US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Design</a:t>
                      </a:r>
                    </a:p>
                  </a:txBody>
                  <a:tcPr marL="70718" marR="70718" marT="35359" marB="353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Figma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0718" marR="70718" marT="35359" marB="353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 design and prototype UI/UX for both mobile and web applications.</a:t>
                      </a:r>
                    </a:p>
                  </a:txBody>
                  <a:tcPr marL="70718" marR="70718" marT="35359" marB="353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4803237"/>
                  </a:ext>
                </a:extLst>
              </a:tr>
              <a:tr h="737536"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Documentation &amp; Planning</a:t>
                      </a:r>
                    </a:p>
                  </a:txBody>
                  <a:tcPr marL="70718" marR="70718" marT="35359" marB="353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 Project, Word, PowerPoint</a:t>
                      </a:r>
                    </a:p>
                  </a:txBody>
                  <a:tcPr marL="70718" marR="70718" marT="35359" marB="353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 plan, document, and present project progress and deliverables.</a:t>
                      </a:r>
                    </a:p>
                  </a:txBody>
                  <a:tcPr marL="70718" marR="70718" marT="35359" marB="353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5576247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82292"/>
          </a:xfrm>
        </p:spPr>
        <p:txBody>
          <a:bodyPr>
            <a:normAutofit fontScale="90000"/>
          </a:bodyPr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Feasibility – Technical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42947156"/>
              </p:ext>
            </p:extLst>
          </p:nvPr>
        </p:nvGraphicFramePr>
        <p:xfrm>
          <a:off x="876692" y="1487080"/>
          <a:ext cx="7428321" cy="4285014"/>
        </p:xfrm>
        <a:graphic>
          <a:graphicData uri="http://schemas.openxmlformats.org/drawingml/2006/table">
            <a:tbl>
              <a:tblPr/>
              <a:tblGrid>
                <a:gridCol w="2476107">
                  <a:extLst>
                    <a:ext uri="{9D8B030D-6E8A-4147-A177-3AD203B41FA5}">
                      <a16:colId xmlns:a16="http://schemas.microsoft.com/office/drawing/2014/main" val="2630831073"/>
                    </a:ext>
                  </a:extLst>
                </a:gridCol>
                <a:gridCol w="2476107">
                  <a:extLst>
                    <a:ext uri="{9D8B030D-6E8A-4147-A177-3AD203B41FA5}">
                      <a16:colId xmlns:a16="http://schemas.microsoft.com/office/drawing/2014/main" val="4015450908"/>
                    </a:ext>
                  </a:extLst>
                </a:gridCol>
                <a:gridCol w="2476107">
                  <a:extLst>
                    <a:ext uri="{9D8B030D-6E8A-4147-A177-3AD203B41FA5}">
                      <a16:colId xmlns:a16="http://schemas.microsoft.com/office/drawing/2014/main" val="400004360"/>
                    </a:ext>
                  </a:extLst>
                </a:gridCol>
              </a:tblGrid>
              <a:tr h="262375"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Technology / Tool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594" marR="65594" marT="32797" marB="327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Purpose</a:t>
                      </a:r>
                      <a:endParaRPr 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594" marR="65594" marT="32797" marB="327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Feasibility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594" marR="65594" marT="32797" marB="327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71784993"/>
                  </a:ext>
                </a:extLst>
              </a:tr>
              <a:tr h="1049499"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Flutter /Dart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594" marR="65594" marT="32797" marB="327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Build cross-platform mobile and web applications with a unified codebase.</a:t>
                      </a:r>
                    </a:p>
                  </a:txBody>
                  <a:tcPr marL="65594" marR="65594" marT="32797" marB="327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Easily implemented with standard developer hardware; both are open-source and widely supported.</a:t>
                      </a:r>
                    </a:p>
                  </a:txBody>
                  <a:tcPr marL="65594" marR="65594" marT="32797" marB="327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6199592"/>
                  </a:ext>
                </a:extLst>
              </a:tr>
              <a:tr h="655937">
                <a:tc>
                  <a:txBody>
                    <a:bodyPr/>
                    <a:lstStyle/>
                    <a:p>
                      <a:r>
                        <a:rPr lang="en-US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PostgreSQL</a:t>
                      </a:r>
                      <a:endParaRPr 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594" marR="65594" marT="32797" marB="327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Store and manage structured relational data for users, hotels, and trips.</a:t>
                      </a:r>
                    </a:p>
                  </a:txBody>
                  <a:tcPr marL="65594" marR="65594" marT="32797" marB="327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Reliable and open-source; integrates seamlessly with Node.js for data handling.</a:t>
                      </a:r>
                    </a:p>
                  </a:txBody>
                  <a:tcPr marL="65594" marR="65594" marT="32797" marB="327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7185939"/>
                  </a:ext>
                </a:extLst>
              </a:tr>
              <a:tr h="852718">
                <a:tc>
                  <a:txBody>
                    <a:bodyPr/>
                    <a:lstStyle/>
                    <a:p>
                      <a:r>
                        <a:rPr lang="en-US" sz="16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supabase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594" marR="65594" marT="32797" marB="327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Handle user authentication,  verification, and push notifications.</a:t>
                      </a:r>
                    </a:p>
                  </a:txBody>
                  <a:tcPr marL="65594" marR="65594" marT="32797" marB="327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Free tier sufficient for academic-scale projects; cloud-based and easy to integrate.</a:t>
                      </a:r>
                    </a:p>
                  </a:txBody>
                  <a:tcPr marL="65594" marR="65594" marT="32797" marB="327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5791040"/>
                  </a:ext>
                </a:extLst>
              </a:tr>
              <a:tr h="852718">
                <a:tc>
                  <a:txBody>
                    <a:bodyPr/>
                    <a:lstStyle/>
                    <a:p>
                      <a:pPr marL="6858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Star UML</a:t>
                      </a:r>
                      <a:endParaRPr lang="en-US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858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For </a:t>
                      </a:r>
                      <a:r>
                        <a:rPr lang="en-US" sz="1800" b="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uml</a:t>
                      </a: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diagrams</a:t>
                      </a:r>
                      <a:endParaRPr lang="en-US" sz="18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858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Diagrams and system design</a:t>
                      </a:r>
                      <a:endParaRPr lang="en-US" sz="18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064679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Feasibility – Financial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D7AB227A-DCF5-9B41-1243-51DE0A63E6E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54666004"/>
              </p:ext>
            </p:extLst>
          </p:nvPr>
        </p:nvGraphicFramePr>
        <p:xfrm>
          <a:off x="680483" y="1551630"/>
          <a:ext cx="8024192" cy="4591145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639205">
                  <a:extLst>
                    <a:ext uri="{9D8B030D-6E8A-4147-A177-3AD203B41FA5}">
                      <a16:colId xmlns:a16="http://schemas.microsoft.com/office/drawing/2014/main" val="123108257"/>
                    </a:ext>
                  </a:extLst>
                </a:gridCol>
                <a:gridCol w="3243714">
                  <a:extLst>
                    <a:ext uri="{9D8B030D-6E8A-4147-A177-3AD203B41FA5}">
                      <a16:colId xmlns:a16="http://schemas.microsoft.com/office/drawing/2014/main" val="3028323752"/>
                    </a:ext>
                  </a:extLst>
                </a:gridCol>
                <a:gridCol w="3141273">
                  <a:extLst>
                    <a:ext uri="{9D8B030D-6E8A-4147-A177-3AD203B41FA5}">
                      <a16:colId xmlns:a16="http://schemas.microsoft.com/office/drawing/2014/main" val="1992858079"/>
                    </a:ext>
                  </a:extLst>
                </a:gridCol>
              </a:tblGrid>
              <a:tr h="23820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Cost Area</a:t>
                      </a:r>
                    </a:p>
                  </a:txBody>
                  <a:tcPr marL="59552" marR="59552" marT="29776" marB="2977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Purpose</a:t>
                      </a:r>
                    </a:p>
                  </a:txBody>
                  <a:tcPr marL="59552" marR="59552" marT="29776" marB="2977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Financial Feasibility</a:t>
                      </a:r>
                    </a:p>
                  </a:txBody>
                  <a:tcPr marL="59552" marR="59552" marT="29776" marB="29776" anchor="ctr"/>
                </a:tc>
                <a:extLst>
                  <a:ext uri="{0D108BD9-81ED-4DB2-BD59-A6C34878D82A}">
                    <a16:rowId xmlns:a16="http://schemas.microsoft.com/office/drawing/2014/main" val="3991155523"/>
                  </a:ext>
                </a:extLst>
              </a:tr>
              <a:tr h="5955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Flutter / Dart</a:t>
                      </a:r>
                    </a:p>
                  </a:txBody>
                  <a:tcPr marL="59552" marR="59552" marT="29776" marB="297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 to develop the mobile application for households and workers.</a:t>
                      </a:r>
                    </a:p>
                  </a:txBody>
                  <a:tcPr marL="59552" marR="59552" marT="29776" marB="297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Open-source and free to use, so no licensing cost is required.</a:t>
                      </a:r>
                    </a:p>
                  </a:txBody>
                  <a:tcPr marL="59552" marR="59552" marT="29776" marB="29776" anchor="ctr"/>
                </a:tc>
                <a:extLst>
                  <a:ext uri="{0D108BD9-81ED-4DB2-BD59-A6C34878D82A}">
                    <a16:rowId xmlns:a16="http://schemas.microsoft.com/office/drawing/2014/main" val="3713246650"/>
                  </a:ext>
                </a:extLst>
              </a:tr>
              <a:tr h="5955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Supabase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9552" marR="59552" marT="29776" marB="297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 for database, authentication, and basic backend services.</a:t>
                      </a:r>
                    </a:p>
                  </a:txBody>
                  <a:tcPr marL="59552" marR="59552" marT="29776" marB="297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Free tier is sufficient for early-stage academic project development.</a:t>
                      </a:r>
                    </a:p>
                  </a:txBody>
                  <a:tcPr marL="59552" marR="59552" marT="29776" marB="29776" anchor="ctr"/>
                </a:tc>
                <a:extLst>
                  <a:ext uri="{0D108BD9-81ED-4DB2-BD59-A6C34878D82A}">
                    <a16:rowId xmlns:a16="http://schemas.microsoft.com/office/drawing/2014/main" val="3774107423"/>
                  </a:ext>
                </a:extLst>
              </a:tr>
              <a:tr h="9528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Hosting / Backend Services</a:t>
                      </a:r>
                    </a:p>
                  </a:txBody>
                  <a:tcPr marL="59552" marR="59552" marT="29776" marB="297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 to store data and manage application features online.</a:t>
                      </a:r>
                    </a:p>
                  </a:txBody>
                  <a:tcPr marL="59552" marR="59552" marT="29776" marB="297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expensive hosting or dedicated servers are needed initially because Supabase provides cloud-based services.</a:t>
                      </a:r>
                    </a:p>
                  </a:txBody>
                  <a:tcPr marL="59552" marR="59552" marT="29776" marB="29776" anchor="ctr"/>
                </a:tc>
                <a:extLst>
                  <a:ext uri="{0D108BD9-81ED-4DB2-BD59-A6C34878D82A}">
                    <a16:rowId xmlns:a16="http://schemas.microsoft.com/office/drawing/2014/main" val="2140531713"/>
                  </a:ext>
                </a:extLst>
              </a:tr>
              <a:tr h="5955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Development Team</a:t>
                      </a:r>
                    </a:p>
                  </a:txBody>
                  <a:tcPr marL="59552" marR="59552" marT="29776" marB="297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System will be developed by students under supervision.</a:t>
                      </a:r>
                    </a:p>
                  </a:txBody>
                  <a:tcPr marL="59552" marR="59552" marT="29776" marB="297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Development cost is low because no external developers are required.</a:t>
                      </a:r>
                    </a:p>
                  </a:txBody>
                  <a:tcPr marL="59552" marR="59552" marT="29776" marB="29776" anchor="ctr"/>
                </a:tc>
                <a:extLst>
                  <a:ext uri="{0D108BD9-81ED-4DB2-BD59-A6C34878D82A}">
                    <a16:rowId xmlns:a16="http://schemas.microsoft.com/office/drawing/2014/main" val="665089282"/>
                  </a:ext>
                </a:extLst>
              </a:tr>
              <a:tr h="7741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Design and Documentation Tools</a:t>
                      </a:r>
                    </a:p>
                  </a:txBody>
                  <a:tcPr marL="59552" marR="59552" marT="29776" marB="297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 for UI design, diagrams, documentation, and project presentation.</a:t>
                      </a:r>
                    </a:p>
                  </a:txBody>
                  <a:tcPr marL="59552" marR="59552" marT="29776" marB="297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Free or academic tools such as Draw.io, MS Word, and PowerPoint can be used.</a:t>
                      </a:r>
                    </a:p>
                  </a:txBody>
                  <a:tcPr marL="59552" marR="59552" marT="29776" marB="29776" anchor="ctr"/>
                </a:tc>
                <a:extLst>
                  <a:ext uri="{0D108BD9-81ED-4DB2-BD59-A6C34878D82A}">
                    <a16:rowId xmlns:a16="http://schemas.microsoft.com/office/drawing/2014/main" val="2996692312"/>
                  </a:ext>
                </a:extLst>
              </a:tr>
              <a:tr h="7741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Testing Devices</a:t>
                      </a:r>
                    </a:p>
                  </a:txBody>
                  <a:tcPr marL="59552" marR="59552" marT="29776" marB="297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 to test the mobile application on Android devices.</a:t>
                      </a:r>
                    </a:p>
                  </a:txBody>
                  <a:tcPr marL="59552" marR="59552" marT="29776" marB="297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Testing can be done using personal mobile phones and emulators, reducing hardware cost.</a:t>
                      </a:r>
                    </a:p>
                  </a:txBody>
                  <a:tcPr marL="59552" marR="59552" marT="29776" marB="29776" anchor="ctr"/>
                </a:tc>
                <a:extLst>
                  <a:ext uri="{0D108BD9-81ED-4DB2-BD59-A6C34878D82A}">
                    <a16:rowId xmlns:a16="http://schemas.microsoft.com/office/drawing/2014/main" val="110459366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Feasibility – Resource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B7799268-9F0A-EC04-8211-A6A905AEA1A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94527721"/>
              </p:ext>
            </p:extLst>
          </p:nvPr>
        </p:nvGraphicFramePr>
        <p:xfrm>
          <a:off x="998871" y="1552336"/>
          <a:ext cx="7146258" cy="4648866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975335">
                  <a:extLst>
                    <a:ext uri="{9D8B030D-6E8A-4147-A177-3AD203B41FA5}">
                      <a16:colId xmlns:a16="http://schemas.microsoft.com/office/drawing/2014/main" val="3671861663"/>
                    </a:ext>
                  </a:extLst>
                </a:gridCol>
                <a:gridCol w="2329314">
                  <a:extLst>
                    <a:ext uri="{9D8B030D-6E8A-4147-A177-3AD203B41FA5}">
                      <a16:colId xmlns:a16="http://schemas.microsoft.com/office/drawing/2014/main" val="2333803141"/>
                    </a:ext>
                  </a:extLst>
                </a:gridCol>
                <a:gridCol w="2841609">
                  <a:extLst>
                    <a:ext uri="{9D8B030D-6E8A-4147-A177-3AD203B41FA5}">
                      <a16:colId xmlns:a16="http://schemas.microsoft.com/office/drawing/2014/main" val="2664311883"/>
                    </a:ext>
                  </a:extLst>
                </a:gridCol>
              </a:tblGrid>
              <a:tr h="31761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Resource Type</a:t>
                      </a:r>
                    </a:p>
                  </a:txBody>
                  <a:tcPr marL="79403" marR="79403" marT="39701" marB="3970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Availability</a:t>
                      </a:r>
                    </a:p>
                  </a:txBody>
                  <a:tcPr marL="79403" marR="79403" marT="39701" marB="3970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Feasibility</a:t>
                      </a:r>
                    </a:p>
                  </a:txBody>
                  <a:tcPr marL="79403" marR="79403" marT="39701" marB="39701" anchor="ctr"/>
                </a:tc>
                <a:extLst>
                  <a:ext uri="{0D108BD9-81ED-4DB2-BD59-A6C34878D82A}">
                    <a16:rowId xmlns:a16="http://schemas.microsoft.com/office/drawing/2014/main" val="1770896363"/>
                  </a:ext>
                </a:extLst>
              </a:tr>
              <a:tr h="10322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Human Resources</a:t>
                      </a:r>
                    </a:p>
                  </a:txBody>
                  <a:tcPr marL="79403" marR="79403" marT="39701" marB="397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 developers and supervisor</a:t>
                      </a:r>
                    </a:p>
                  </a:txBody>
                  <a:tcPr marL="79403" marR="79403" marT="39701" marB="397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members can divide the modules and complete the project with supervisor guidance.</a:t>
                      </a:r>
                    </a:p>
                  </a:txBody>
                  <a:tcPr marL="79403" marR="79403" marT="39701" marB="39701" anchor="ctr"/>
                </a:tc>
                <a:extLst>
                  <a:ext uri="{0D108BD9-81ED-4DB2-BD59-A6C34878D82A}">
                    <a16:rowId xmlns:a16="http://schemas.microsoft.com/office/drawing/2014/main" val="3100172019"/>
                  </a:ext>
                </a:extLst>
              </a:tr>
              <a:tr h="7940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Software</a:t>
                      </a:r>
                    </a:p>
                  </a:txBody>
                  <a:tcPr marL="79403" marR="79403" marT="39701" marB="397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Flutter, PostgreSQL, Supabase</a:t>
                      </a:r>
                    </a:p>
                  </a:txBody>
                  <a:tcPr marL="79403" marR="79403" marT="39701" marB="397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Required tools are free or easily available for development.</a:t>
                      </a:r>
                    </a:p>
                  </a:txBody>
                  <a:tcPr marL="79403" marR="79403" marT="39701" marB="39701" anchor="ctr"/>
                </a:tc>
                <a:extLst>
                  <a:ext uri="{0D108BD9-81ED-4DB2-BD59-A6C34878D82A}">
                    <a16:rowId xmlns:a16="http://schemas.microsoft.com/office/drawing/2014/main" val="1825729072"/>
                  </a:ext>
                </a:extLst>
              </a:tr>
              <a:tr h="7940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Hardware</a:t>
                      </a:r>
                    </a:p>
                  </a:txBody>
                  <a:tcPr marL="79403" marR="79403" marT="39701" marB="397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Laptops and smartphones</a:t>
                      </a:r>
                    </a:p>
                  </a:txBody>
                  <a:tcPr marL="79403" marR="79403" marT="39701" marB="397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Existing devices are enough for development and testing.</a:t>
                      </a:r>
                    </a:p>
                  </a:txBody>
                  <a:tcPr marL="79403" marR="79403" marT="39701" marB="39701" anchor="ctr"/>
                </a:tc>
                <a:extLst>
                  <a:ext uri="{0D108BD9-81ED-4DB2-BD59-A6C34878D82A}">
                    <a16:rowId xmlns:a16="http://schemas.microsoft.com/office/drawing/2014/main" val="2750013707"/>
                  </a:ext>
                </a:extLst>
              </a:tr>
              <a:tr h="7940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Support Resources</a:t>
                      </a:r>
                    </a:p>
                  </a:txBody>
                  <a:tcPr marL="79403" marR="79403" marT="39701" marB="397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 Word, Figma, GitHub</a:t>
                      </a:r>
                    </a:p>
                  </a:txBody>
                  <a:tcPr marL="79403" marR="79403" marT="39701" marB="397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These tools support documentation, design, and teamwork.</a:t>
                      </a:r>
                    </a:p>
                  </a:txBody>
                  <a:tcPr marL="79403" marR="79403" marT="39701" marB="39701" anchor="ctr"/>
                </a:tc>
                <a:extLst>
                  <a:ext uri="{0D108BD9-81ED-4DB2-BD59-A6C34878D82A}">
                    <a16:rowId xmlns:a16="http://schemas.microsoft.com/office/drawing/2014/main" val="1846047559"/>
                  </a:ext>
                </a:extLst>
              </a:tr>
              <a:tr h="7940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University Support</a:t>
                      </a:r>
                    </a:p>
                  </a:txBody>
                  <a:tcPr marL="79403" marR="79403" marT="39701" marB="397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Lab and team setup</a:t>
                      </a:r>
                    </a:p>
                  </a:txBody>
                  <a:tcPr marL="79403" marR="79403" marT="39701" marB="397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Current university resources are sufficient for project completion.</a:t>
                      </a:r>
                    </a:p>
                  </a:txBody>
                  <a:tcPr marL="79403" marR="79403" marT="39701" marB="39701" anchor="ctr"/>
                </a:tc>
                <a:extLst>
                  <a:ext uri="{0D108BD9-81ED-4DB2-BD59-A6C34878D82A}">
                    <a16:rowId xmlns:a16="http://schemas.microsoft.com/office/drawing/2014/main" val="297310084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Feasibility – Operational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Easy-to-use interface for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house hold users and workers</a:t>
            </a:r>
          </a:p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Verification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safety and reliability for trip companions.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 adopted by house hold users and workers as it is on mobile app</a:t>
            </a:r>
          </a:p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Promotes digital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workspace and employment</a:t>
            </a:r>
          </a:p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Long-term usability with scalable, modular architecture.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Schedule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E7ED80A-1D68-3D79-BAEC-AF5E995D710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09" t="12374" r="2907"/>
          <a:stretch>
            <a:fillRect/>
          </a:stretch>
        </p:blipFill>
        <p:spPr>
          <a:xfrm>
            <a:off x="308344" y="1531088"/>
            <a:ext cx="8676167" cy="4370464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Tasks for 1st Iteration (30%)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31089"/>
            <a:ext cx="8229600" cy="5147968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2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Flutter project setup </a:t>
            </a:r>
          </a:p>
          <a:p>
            <a:pPr>
              <a:lnSpc>
                <a:spcPct val="12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Splash and onboarding screens </a:t>
            </a:r>
          </a:p>
          <a:p>
            <a:pPr>
              <a:lnSpc>
                <a:spcPct val="12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 and signup UI </a:t>
            </a:r>
          </a:p>
          <a:p>
            <a:pPr>
              <a:lnSpc>
                <a:spcPct val="12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 selection screen </a:t>
            </a:r>
          </a:p>
          <a:p>
            <a:pPr>
              <a:lnSpc>
                <a:spcPct val="12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home screen UI </a:t>
            </a:r>
          </a:p>
          <a:p>
            <a:pPr>
              <a:lnSpc>
                <a:spcPct val="12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Worker profile UI </a:t>
            </a:r>
          </a:p>
          <a:p>
            <a:pPr>
              <a:lnSpc>
                <a:spcPct val="12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Navigation setup </a:t>
            </a:r>
          </a:p>
          <a:p>
            <a:pPr>
              <a:lnSpc>
                <a:spcPct val="120000"/>
              </a:lnSpc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Supabase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setup</a:t>
            </a:r>
          </a:p>
          <a:p>
            <a:pPr>
              <a:lnSpc>
                <a:spcPct val="12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structure creation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HomeEase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aims to provide a secure and organized mobile platform for connecting households with trusted domestic workers. The application improves accessibility, transparency, and convenience through features such as location based search, booking, and worker verification.</a:t>
            </a:r>
          </a:p>
          <a:p>
            <a:pPr marL="0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project helps modernize the home care services sector while creating better opportunities for both households and workers.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259</TotalTime>
  <Words>1287</Words>
  <Application>Microsoft Office PowerPoint</Application>
  <PresentationFormat>On-screen Show (4:3)</PresentationFormat>
  <Paragraphs>183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Times New Roman</vt:lpstr>
      <vt:lpstr>Office Theme</vt:lpstr>
      <vt:lpstr>Home Ease</vt:lpstr>
      <vt:lpstr>Agenda of the Presentation</vt:lpstr>
      <vt:lpstr>Motivation</vt:lpstr>
      <vt:lpstr>Brief Introduction</vt:lpstr>
      <vt:lpstr>Scope</vt:lpstr>
      <vt:lpstr>Scope(cont)</vt:lpstr>
      <vt:lpstr>Out of Scope(cont)</vt:lpstr>
      <vt:lpstr>Out of Scope</vt:lpstr>
      <vt:lpstr>Functionalities</vt:lpstr>
      <vt:lpstr>Functionalities(cont.)</vt:lpstr>
      <vt:lpstr>Proposed Tools/Platform</vt:lpstr>
      <vt:lpstr>Feasibility – Technical</vt:lpstr>
      <vt:lpstr>Feasibility – Financial</vt:lpstr>
      <vt:lpstr>Feasibility – Resource</vt:lpstr>
      <vt:lpstr>Feasibility – Operational</vt:lpstr>
      <vt:lpstr>Schedule</vt:lpstr>
      <vt:lpstr>Tasks for 1st Iteration (30%)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TrekPal – Smart Travel &amp; Trip Companion Application</dc:title>
  <dc:subject/>
  <dc:creator>AbuZar</dc:creator>
  <cp:keywords/>
  <dc:description>generated using python-pptx</dc:description>
  <cp:lastModifiedBy>Abuzar Khan</cp:lastModifiedBy>
  <cp:revision>15</cp:revision>
  <dcterms:created xsi:type="dcterms:W3CDTF">2013-01-27T09:14:16Z</dcterms:created>
  <dcterms:modified xsi:type="dcterms:W3CDTF">2026-05-11T14:11:44Z</dcterms:modified>
  <cp:category/>
</cp:coreProperties>
</file>