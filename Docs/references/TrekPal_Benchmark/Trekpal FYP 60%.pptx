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7" r:id="rId3"/>
    <p:sldId id="259" r:id="rId4"/>
    <p:sldId id="260" r:id="rId5"/>
    <p:sldId id="288" r:id="rId6"/>
    <p:sldId id="261" r:id="rId7"/>
    <p:sldId id="281" r:id="rId8"/>
    <p:sldId id="282" r:id="rId9"/>
    <p:sldId id="284" r:id="rId10"/>
    <p:sldId id="263" r:id="rId11"/>
    <p:sldId id="264" r:id="rId12"/>
    <p:sldId id="265" r:id="rId13"/>
    <p:sldId id="289" r:id="rId14"/>
    <p:sldId id="290" r:id="rId15"/>
    <p:sldId id="291" r:id="rId16"/>
    <p:sldId id="266" r:id="rId17"/>
    <p:sldId id="275" r:id="rId18"/>
    <p:sldId id="292" r:id="rId19"/>
    <p:sldId id="267" r:id="rId20"/>
    <p:sldId id="271" r:id="rId21"/>
    <p:sldId id="273" r:id="rId22"/>
    <p:sldId id="274" r:id="rId23"/>
    <p:sldId id="270" r:id="rId24"/>
    <p:sldId id="286" r:id="rId25"/>
    <p:sldId id="280" r:id="rId26"/>
    <p:sldId id="278" r:id="rId27"/>
    <p:sldId id="287" r:id="rId28"/>
    <p:sldId id="293"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60"/>
  </p:normalViewPr>
  <p:slideViewPr>
    <p:cSldViewPr showGuides="1">
      <p:cViewPr>
        <p:scale>
          <a:sx n="66" d="100"/>
          <a:sy n="66" d="100"/>
        </p:scale>
        <p:origin x="1280" y="-2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2B86B37-9E7C-4699-A89E-72EE4B291650}" type="datetimeFigureOut">
              <a:rPr lang="en-US" smtClean="0"/>
              <a:t>5/3/2026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EFE787-E5F2-40C5-9D43-E7EAF8E51FDF}"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EFE787-E5F2-40C5-9D43-E7EAF8E51FDF}" type="slidenum">
              <a:rPr lang="en-US" smtClean="0"/>
              <a:t>4</a:t>
            </a:fld>
            <a:endParaRPr lang="en-US"/>
          </a:p>
        </p:txBody>
      </p:sp>
    </p:spTree>
    <p:extLst>
      <p:ext uri="{BB962C8B-B14F-4D97-AF65-F5344CB8AC3E}">
        <p14:creationId xmlns:p14="http://schemas.microsoft.com/office/powerpoint/2010/main" val="1158590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DE83A-BD7E-FDA3-74EC-941A3AF32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7D3A4-F2A8-3273-CA4D-2D24165766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B040A-B04E-C61A-0599-2BAB6F8C1E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23B2A2-09F6-313B-C02F-EC2E90FCD160}"/>
              </a:ext>
            </a:extLst>
          </p:cNvPr>
          <p:cNvSpPr>
            <a:spLocks noGrp="1"/>
          </p:cNvSpPr>
          <p:nvPr>
            <p:ph type="sldNum" sz="quarter" idx="5"/>
          </p:nvPr>
        </p:nvSpPr>
        <p:spPr/>
        <p:txBody>
          <a:bodyPr/>
          <a:lstStyle/>
          <a:p>
            <a:fld id="{75EFE787-E5F2-40C5-9D43-E7EAF8E51FDF}" type="slidenum">
              <a:rPr lang="en-US" smtClean="0"/>
              <a:t>5</a:t>
            </a:fld>
            <a:endParaRPr lang="en-US"/>
          </a:p>
        </p:txBody>
      </p:sp>
    </p:spTree>
    <p:extLst>
      <p:ext uri="{BB962C8B-B14F-4D97-AF65-F5344CB8AC3E}">
        <p14:creationId xmlns:p14="http://schemas.microsoft.com/office/powerpoint/2010/main" val="1999892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EFE787-E5F2-40C5-9D43-E7EAF8E51FDF}" type="slidenum">
              <a:rPr lang="en-US" smtClean="0"/>
              <a:t>9</a:t>
            </a:fld>
            <a:endParaRPr lang="en-US"/>
          </a:p>
        </p:txBody>
      </p:sp>
    </p:spTree>
    <p:extLst>
      <p:ext uri="{BB962C8B-B14F-4D97-AF65-F5344CB8AC3E}">
        <p14:creationId xmlns:p14="http://schemas.microsoft.com/office/powerpoint/2010/main" val="1126353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E7D89F-69BA-45D8-85C1-789124DFB921}" type="datetime1">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F83749-7540-4838-B5FB-EDC40CB84DB0}" type="datetime1">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1A8085-18D1-4091-8AD3-81F140965EFC}" type="datetime1">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ACD35F7-97F8-4D2E-B83D-158766068E0A}" type="datetime1">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03EFADE-B1F7-484F-89D9-3E148D53B52B}" type="datetime1">
              <a:rPr lang="en-US" smtClean="0"/>
              <a:t>5/3/2026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9F378E-9541-4F7D-BD6F-302448FBBB81}" type="datetime1">
              <a:rPr lang="en-US" smtClean="0"/>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26370F-658E-452B-A4D5-DB4240E0AF51}" type="datetime1">
              <a:rPr lang="en-US" smtClean="0"/>
              <a:t>5/3/2026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18E6F0-0C4F-4052-A284-495110A822E2}" type="datetime1">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4C22A7-5E39-4CEE-A6B3-52DA5303DD53}" type="datetime1">
              <a:rPr lang="en-US" smtClean="0"/>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641830-9FBF-4C58-837A-230882702FD4}" type="datetime1">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1B8442-52C5-4632-BA82-04F7AD4C9B34}" type="datetime1">
              <a:rPr lang="en-US" smtClean="0"/>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2A8C5E-5ACC-4DAB-B41C-5718F8C58B6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8188C4-8F03-4988-A683-AFCBDCFC6ED7}" type="datetime1">
              <a:rPr lang="en-US" smtClean="0"/>
              <a:t>5/3/2026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2A8C5E-5ACC-4DAB-B41C-5718F8C58B6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Autofit/>
          </a:bodyPr>
          <a:lstStyle/>
          <a:p>
            <a:r>
              <a:rPr lang="en-US" sz="3600" dirty="0">
                <a:latin typeface="Times New Roman" panose="02020603050405020304" pitchFamily="18" charset="0"/>
                <a:cs typeface="Times New Roman" panose="02020603050405020304" pitchFamily="18" charset="0"/>
                <a:sym typeface="+mn-ea"/>
              </a:rPr>
              <a:t>Project Title:</a:t>
            </a:r>
            <a:br>
              <a:rPr lang="en-US" sz="3600" dirty="0">
                <a:latin typeface="Times New Roman" panose="02020603050405020304" pitchFamily="18" charset="0"/>
                <a:cs typeface="Times New Roman" panose="02020603050405020304" pitchFamily="18" charset="0"/>
                <a:sym typeface="+mn-ea"/>
              </a:rPr>
            </a:br>
            <a:r>
              <a:rPr lang="en-US" altLang="en-US" sz="3600" dirty="0" err="1">
                <a:latin typeface="Times New Roman" panose="02020603050405020304" pitchFamily="18" charset="0"/>
                <a:cs typeface="Times New Roman" panose="02020603050405020304" pitchFamily="18" charset="0"/>
                <a:sym typeface="+mn-ea"/>
              </a:rPr>
              <a:t>TrekPal</a:t>
            </a:r>
            <a:endParaRPr lang="en-US" sz="36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371600" y="3886200"/>
            <a:ext cx="6400800" cy="2743200"/>
          </a:xfrm>
        </p:spPr>
        <p:txBody>
          <a:bodyPr>
            <a:noAutofit/>
          </a:bodyPr>
          <a:lstStyle/>
          <a:p>
            <a:r>
              <a:rPr lang="en-US" sz="2000" b="1" dirty="0">
                <a:solidFill>
                  <a:schemeClr val="tx1"/>
                </a:solidFill>
                <a:latin typeface="Times New Roman" panose="02020603050405020304" pitchFamily="18" charset="0"/>
                <a:cs typeface="Times New Roman" panose="02020603050405020304" pitchFamily="18" charset="0"/>
                <a:sym typeface="+mn-ea"/>
              </a:rPr>
              <a:t>Group Members:</a:t>
            </a:r>
            <a:endParaRPr lang="en-US" sz="2000" b="1"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sym typeface="+mn-ea"/>
              </a:rPr>
              <a:t>Hashim Ali Khan			(FA22-BSE-)</a:t>
            </a:r>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sym typeface="+mn-ea"/>
              </a:rPr>
              <a:t>Ali Usman Tajik  			(FA22-BSE-)</a:t>
            </a:r>
            <a:endParaRPr lang="en-US" sz="20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sym typeface="+mn-ea"/>
            </a:endParaRPr>
          </a:p>
          <a:p>
            <a:r>
              <a:rPr lang="en-US" sz="2000" b="1" dirty="0">
                <a:solidFill>
                  <a:schemeClr val="tx1"/>
                </a:solidFill>
                <a:latin typeface="Times New Roman" panose="02020603050405020304" pitchFamily="18" charset="0"/>
                <a:cs typeface="Times New Roman" panose="02020603050405020304" pitchFamily="18" charset="0"/>
                <a:sym typeface="+mn-ea"/>
              </a:rPr>
              <a:t>Supervisor-name: </a:t>
            </a:r>
            <a:endParaRPr lang="en-US" sz="2000" b="1"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sym typeface="+mn-ea"/>
              </a:rPr>
              <a:t>Maam Sana malik</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1</a:t>
            </a:fld>
            <a:endParaRPr lang="en-US" dirty="0">
              <a:latin typeface="Times New Roman" panose="02020603050405020304" pitchFamily="18" charset="0"/>
              <a:cs typeface="Times New Roman" panose="02020603050405020304" pitchFamily="18" charset="0"/>
            </a:endParaRPr>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152473" y="451485"/>
            <a:ext cx="996315" cy="996315"/>
          </a:xfrm>
          <a:prstGeom prst="rect">
            <a:avLst/>
          </a:prstGeom>
          <a:noFill/>
        </p:spPr>
      </p:pic>
      <p:sp>
        <p:nvSpPr>
          <p:cNvPr id="6" name="Subtitle 2"/>
          <p:cNvSpPr txBox="1"/>
          <p:nvPr/>
        </p:nvSpPr>
        <p:spPr>
          <a:xfrm>
            <a:off x="1371600" y="457200"/>
            <a:ext cx="6400800" cy="99060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cs typeface="Times New Roman" panose="02020603050405020304" pitchFamily="18" charset="0"/>
              </a:rPr>
              <a:t>Department of Computer</a:t>
            </a:r>
            <a:r>
              <a:rPr kumimoji="0" lang="en-US" sz="2800" b="0" i="0" u="none" strike="noStrike" kern="1200" cap="none" spc="0" normalizeH="0" noProof="0" dirty="0">
                <a:ln>
                  <a:noFill/>
                </a:ln>
                <a:solidFill>
                  <a:schemeClr val="tx1">
                    <a:tint val="75000"/>
                  </a:schemeClr>
                </a:solidFill>
                <a:effectLst/>
                <a:uLnTx/>
                <a:uFillTx/>
                <a:latin typeface="Times New Roman" panose="02020603050405020304" pitchFamily="18" charset="0"/>
                <a:cs typeface="Times New Roman" panose="02020603050405020304" pitchFamily="18" charset="0"/>
              </a:rPr>
              <a:t> Science</a:t>
            </a:r>
          </a:p>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lang="en-US" sz="2200" baseline="0" dirty="0">
                <a:solidFill>
                  <a:schemeClr val="tx1">
                    <a:tint val="75000"/>
                  </a:schemeClr>
                </a:solidFill>
                <a:latin typeface="Times New Roman" panose="02020603050405020304" pitchFamily="18" charset="0"/>
                <a:cs typeface="Times New Roman" panose="02020603050405020304" pitchFamily="18" charset="0"/>
              </a:rPr>
              <a:t>COMSATS</a:t>
            </a:r>
            <a:r>
              <a:rPr lang="en-US" sz="2200" dirty="0">
                <a:solidFill>
                  <a:schemeClr val="tx1">
                    <a:tint val="75000"/>
                  </a:schemeClr>
                </a:solidFill>
                <a:latin typeface="Times New Roman" panose="02020603050405020304" pitchFamily="18" charset="0"/>
                <a:cs typeface="Times New Roman" panose="02020603050405020304" pitchFamily="18" charset="0"/>
              </a:rPr>
              <a:t> University Islamabad, Abbottabad Campus</a:t>
            </a:r>
            <a:endParaRPr kumimoji="0" lang="en-US" sz="2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atin typeface="Times New Roman" panose="02020603050405020304" pitchFamily="18" charset="0"/>
                <a:cs typeface="Times New Roman" panose="02020603050405020304" pitchFamily="18" charset="0"/>
                <a:sym typeface="+mn-ea"/>
              </a:rPr>
              <a:t>Agenda </a:t>
            </a:r>
            <a:r>
              <a:rPr lang="en-US" dirty="0">
                <a:latin typeface="Times New Roman" panose="02020603050405020304" pitchFamily="18" charset="0"/>
                <a:cs typeface="Times New Roman" panose="02020603050405020304" pitchFamily="18" charset="0"/>
                <a:sym typeface="+mn-ea"/>
              </a:rPr>
              <a:t>of the Presentation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418590"/>
            <a:ext cx="8229600" cy="5370195"/>
          </a:xfrm>
        </p:spPr>
        <p:txBody>
          <a:bodyPr>
            <a:noAutofit/>
          </a:bodyPr>
          <a:lstStyle/>
          <a:p>
            <a:r>
              <a:rPr lang="en-US" altLang="en-US" sz="1500" dirty="0">
                <a:latin typeface="Times New Roman" panose="02020603050405020304" pitchFamily="18" charset="0"/>
                <a:cs typeface="Times New Roman" panose="02020603050405020304" pitchFamily="18" charset="0"/>
                <a:sym typeface="+mn-ea"/>
              </a:rPr>
              <a:t>Brief Introduction</a:t>
            </a:r>
            <a:endParaRPr lang="en-US" altLang="en-US" sz="1500" dirty="0">
              <a:latin typeface="Times New Roman" panose="02020603050405020304" pitchFamily="18" charset="0"/>
              <a:cs typeface="Times New Roman" panose="02020603050405020304" pitchFamily="18" charset="0"/>
            </a:endParaRPr>
          </a:p>
          <a:p>
            <a:r>
              <a:rPr lang="en-US" altLang="en-US" sz="1500" dirty="0">
                <a:latin typeface="Times New Roman" panose="02020603050405020304" pitchFamily="18" charset="0"/>
                <a:cs typeface="Times New Roman" panose="02020603050405020304" pitchFamily="18" charset="0"/>
                <a:sym typeface="+mn-ea"/>
              </a:rPr>
              <a:t>Scope</a:t>
            </a:r>
          </a:p>
          <a:p>
            <a:r>
              <a:rPr lang="en-US" altLang="en-US" sz="1500" dirty="0">
                <a:latin typeface="Times New Roman" panose="02020603050405020304" pitchFamily="18" charset="0"/>
                <a:cs typeface="Times New Roman" panose="02020603050405020304" pitchFamily="18" charset="0"/>
                <a:sym typeface="+mn-ea"/>
              </a:rPr>
              <a:t>Functional Requirements</a:t>
            </a:r>
            <a:endParaRPr lang="en-US" altLang="en-US" sz="1500" dirty="0">
              <a:latin typeface="Times New Roman" panose="02020603050405020304" pitchFamily="18" charset="0"/>
              <a:cs typeface="Times New Roman" panose="02020603050405020304" pitchFamily="18" charset="0"/>
            </a:endParaRPr>
          </a:p>
          <a:p>
            <a:r>
              <a:rPr lang="en-US" altLang="en-US" sz="1500" dirty="0">
                <a:latin typeface="Times New Roman" panose="02020603050405020304" pitchFamily="18" charset="0"/>
                <a:cs typeface="Times New Roman" panose="02020603050405020304" pitchFamily="18" charset="0"/>
                <a:sym typeface="+mn-ea"/>
              </a:rPr>
              <a:t>Non-Functional Requirements</a:t>
            </a:r>
          </a:p>
          <a:p>
            <a:r>
              <a:rPr lang="en-US" altLang="en-US" sz="1500" dirty="0">
                <a:latin typeface="Times New Roman" panose="02020603050405020304" pitchFamily="18" charset="0"/>
                <a:cs typeface="Times New Roman" panose="02020603050405020304" pitchFamily="18" charset="0"/>
                <a:sym typeface="+mn-ea"/>
              </a:rPr>
              <a:t>User Goals</a:t>
            </a:r>
          </a:p>
          <a:p>
            <a:r>
              <a:rPr lang="en-US" sz="1500" dirty="0">
                <a:latin typeface="Times New Roman" panose="02020603050405020304" pitchFamily="18" charset="0"/>
                <a:cs typeface="Times New Roman" panose="02020603050405020304" pitchFamily="18" charset="0"/>
                <a:sym typeface="+mn-ea"/>
              </a:rPr>
              <a:t>Use Cases </a:t>
            </a:r>
          </a:p>
          <a:p>
            <a:r>
              <a:rPr lang="en-US" sz="1500" dirty="0">
                <a:latin typeface="Times New Roman" panose="02020603050405020304" pitchFamily="18" charset="0"/>
                <a:cs typeface="Times New Roman" panose="02020603050405020304" pitchFamily="18" charset="0"/>
                <a:sym typeface="+mn-ea"/>
              </a:rPr>
              <a:t>Use Case Diagram </a:t>
            </a:r>
          </a:p>
          <a:p>
            <a:r>
              <a:rPr lang="en-US" sz="1500" dirty="0">
                <a:latin typeface="Times New Roman" panose="02020603050405020304" pitchFamily="18" charset="0"/>
                <a:cs typeface="Times New Roman" panose="02020603050405020304" pitchFamily="18" charset="0"/>
                <a:sym typeface="+mn-ea"/>
              </a:rPr>
              <a:t>Class Diagram </a:t>
            </a:r>
          </a:p>
          <a:p>
            <a:r>
              <a:rPr lang="en-US" sz="1500" dirty="0">
                <a:latin typeface="Times New Roman" panose="02020603050405020304" pitchFamily="18" charset="0"/>
                <a:cs typeface="Times New Roman" panose="02020603050405020304" pitchFamily="18" charset="0"/>
                <a:sym typeface="+mn-ea"/>
              </a:rPr>
              <a:t>Sequence Diagram  </a:t>
            </a:r>
          </a:p>
          <a:p>
            <a:r>
              <a:rPr lang="en-US" sz="1500" dirty="0">
                <a:latin typeface="Times New Roman" panose="02020603050405020304" pitchFamily="18" charset="0"/>
                <a:cs typeface="Times New Roman" panose="02020603050405020304" pitchFamily="18" charset="0"/>
                <a:sym typeface="+mn-ea"/>
              </a:rPr>
              <a:t>Activity/State Machine Diagram </a:t>
            </a:r>
          </a:p>
          <a:p>
            <a:r>
              <a:rPr lang="en-US" sz="1500" dirty="0">
                <a:latin typeface="Times New Roman" panose="02020603050405020304" pitchFamily="18" charset="0"/>
                <a:cs typeface="Times New Roman" panose="02020603050405020304" pitchFamily="18" charset="0"/>
                <a:sym typeface="+mn-ea"/>
              </a:rPr>
              <a:t>ER Diagram</a:t>
            </a:r>
          </a:p>
          <a:p>
            <a:r>
              <a:rPr lang="en-US" sz="1500" dirty="0">
                <a:latin typeface="Times New Roman" panose="02020603050405020304" pitchFamily="18" charset="0"/>
                <a:cs typeface="Times New Roman" panose="02020603050405020304" pitchFamily="18" charset="0"/>
                <a:sym typeface="+mn-ea"/>
              </a:rPr>
              <a:t>Package Diagram </a:t>
            </a:r>
          </a:p>
          <a:p>
            <a:r>
              <a:rPr lang="en-US" sz="1500" dirty="0">
                <a:latin typeface="Times New Roman" panose="02020603050405020304" pitchFamily="18" charset="0"/>
                <a:cs typeface="Times New Roman" panose="02020603050405020304" pitchFamily="18" charset="0"/>
                <a:sym typeface="+mn-ea"/>
              </a:rPr>
              <a:t>Deployment Diagram </a:t>
            </a:r>
          </a:p>
          <a:p>
            <a:r>
              <a:rPr lang="en-US" sz="1500" dirty="0">
                <a:latin typeface="Times New Roman" panose="02020603050405020304" pitchFamily="18" charset="0"/>
                <a:cs typeface="Times New Roman" panose="02020603050405020304" pitchFamily="18" charset="0"/>
                <a:sym typeface="+mn-ea"/>
              </a:rPr>
              <a:t>Decision Table</a:t>
            </a:r>
            <a:endParaRPr lang="en-US" altLang="en-US" sz="1500" dirty="0">
              <a:latin typeface="Times New Roman" panose="02020603050405020304" pitchFamily="18" charset="0"/>
              <a:cs typeface="Times New Roman" panose="02020603050405020304" pitchFamily="18" charset="0"/>
            </a:endParaRPr>
          </a:p>
          <a:p>
            <a:r>
              <a:rPr lang="en-US" altLang="en-US" sz="1500" dirty="0">
                <a:latin typeface="Times New Roman" panose="02020603050405020304" pitchFamily="18" charset="0"/>
                <a:cs typeface="Times New Roman" panose="02020603050405020304" pitchFamily="18" charset="0"/>
                <a:sym typeface="+mn-ea"/>
              </a:rPr>
              <a:t>Schedule (Gantt Chart)</a:t>
            </a:r>
            <a:endParaRPr lang="en-US" altLang="en-US" sz="1500" dirty="0">
              <a:latin typeface="Times New Roman" panose="02020603050405020304" pitchFamily="18" charset="0"/>
              <a:cs typeface="Times New Roman" panose="02020603050405020304" pitchFamily="18" charset="0"/>
            </a:endParaRPr>
          </a:p>
          <a:p>
            <a:r>
              <a:rPr lang="en-US" altLang="en-US" sz="1500" dirty="0">
                <a:latin typeface="Times New Roman" panose="02020603050405020304" pitchFamily="18" charset="0"/>
                <a:cs typeface="Times New Roman" panose="02020603050405020304" pitchFamily="18" charset="0"/>
                <a:sym typeface="+mn-ea"/>
              </a:rPr>
              <a:t>Tasks for 1st Iteration(or 30%)</a:t>
            </a:r>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sym typeface="+mn-ea"/>
              </a:rPr>
              <a:t>Details of 2</a:t>
            </a:r>
            <a:r>
              <a:rPr lang="en-US" sz="1500" baseline="30000" dirty="0">
                <a:latin typeface="Times New Roman" panose="02020603050405020304" pitchFamily="18" charset="0"/>
                <a:cs typeface="Times New Roman" panose="02020603050405020304" pitchFamily="18" charset="0"/>
                <a:sym typeface="+mn-ea"/>
              </a:rPr>
              <a:t>nd</a:t>
            </a:r>
            <a:r>
              <a:rPr lang="en-US" sz="1500" dirty="0">
                <a:latin typeface="Times New Roman" panose="02020603050405020304" pitchFamily="18" charset="0"/>
                <a:cs typeface="Times New Roman" panose="02020603050405020304" pitchFamily="18" charset="0"/>
                <a:sym typeface="+mn-ea"/>
              </a:rPr>
              <a:t> Iteration (60%)</a:t>
            </a:r>
            <a:endParaRPr lang="en-US" altLang="en-US" sz="1500" dirty="0">
              <a:latin typeface="Times New Roman" panose="02020603050405020304" pitchFamily="18" charset="0"/>
              <a:cs typeface="Times New Roman" panose="02020603050405020304" pitchFamily="18" charset="0"/>
            </a:endParaRPr>
          </a:p>
          <a:p>
            <a:r>
              <a:rPr lang="en-US" altLang="en-US" sz="1500" dirty="0">
                <a:latin typeface="Times New Roman" panose="02020603050405020304" pitchFamily="18" charset="0"/>
                <a:cs typeface="Times New Roman" panose="02020603050405020304" pitchFamily="18" charset="0"/>
                <a:sym typeface="+mn-ea"/>
              </a:rPr>
              <a:t>Conclusion</a:t>
            </a:r>
            <a:endParaRPr lang="en-US" altLang="en-US" sz="1500" dirty="0">
              <a:latin typeface="Times New Roman" panose="02020603050405020304" pitchFamily="18" charset="0"/>
              <a:cs typeface="Times New Roman" panose="02020603050405020304" pitchFamily="18" charset="0"/>
            </a:endParaRPr>
          </a:p>
          <a:p>
            <a:endParaRPr lang="en-US" altLang="en-US" sz="5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2</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2390"/>
          </a:xfrm>
        </p:spPr>
        <p:txBody>
          <a:bodyPr/>
          <a:lstStyle/>
          <a:p>
            <a:pPr algn="l"/>
            <a:r>
              <a:rPr lang="en-US" dirty="0">
                <a:latin typeface="Times New Roman" panose="02020603050405020304" pitchFamily="18" charset="0"/>
                <a:cs typeface="Times New Roman" panose="02020603050405020304" pitchFamily="18" charset="0"/>
                <a:sym typeface="+mn-ea"/>
              </a:rPr>
              <a:t>Brief Introduction</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sp>
        <p:nvSpPr>
          <p:cNvPr id="8" name="Rectangle 2">
            <a:extLst>
              <a:ext uri="{FF2B5EF4-FFF2-40B4-BE49-F238E27FC236}">
                <a16:creationId xmlns:a16="http://schemas.microsoft.com/office/drawing/2014/main" id="{87FA25EA-B256-B6AD-3A71-88BB207ACC6B}"/>
              </a:ext>
            </a:extLst>
          </p:cNvPr>
          <p:cNvSpPr>
            <a:spLocks noGrp="1" noChangeArrowheads="1"/>
          </p:cNvSpPr>
          <p:nvPr>
            <p:ph idx="1"/>
          </p:nvPr>
        </p:nvSpPr>
        <p:spPr bwMode="auto">
          <a:xfrm>
            <a:off x="152400" y="1047028"/>
            <a:ext cx="86106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TrekPal</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 multi-platform travel management and marketplace system developed to simplify and modernize trip planning.</a:t>
            </a:r>
          </a:p>
          <a:p>
            <a:pPr algn="just" eaLnBrk="0" fontAlgn="base" hangingPunct="0">
              <a:spcBef>
                <a:spcPct val="0"/>
              </a:spcBef>
              <a:spcAft>
                <a:spcPct val="0"/>
              </a:spcAf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connects travelers, travel agencies, hotels, and administrators in one unified digital ecosystem.</a:t>
            </a:r>
          </a:p>
          <a:p>
            <a:pPr algn="just" eaLnBrk="0" fontAlgn="base" hangingPunct="0">
              <a:spcBef>
                <a:spcPct val="0"/>
              </a:spcBef>
              <a:spcAft>
                <a:spcPct val="0"/>
              </a:spcAf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addresses the problem of fragmented travel planning, where users normally rely on separate platforms or informal communication for hotels, transport, and travel packages.</a:t>
            </a:r>
          </a:p>
          <a:p>
            <a:pPr algn="just" eaLnBrk="0" fontAlgn="base" hangingPunct="0">
              <a:spcBef>
                <a:spcPct val="0"/>
              </a:spcBef>
              <a:spcAft>
                <a:spcPct val="0"/>
              </a:spcAf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key feature of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TrekPal</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its trip request and bidding model, where travelers create trip requests and agencies respond with customized offers.</a:t>
            </a:r>
          </a:p>
          <a:p>
            <a:pPr algn="just" eaLnBrk="0" fontAlgn="base" hangingPunct="0">
              <a:spcBef>
                <a:spcPct val="0"/>
              </a:spcBef>
              <a:spcAft>
                <a:spcPct val="0"/>
              </a:spcAf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includes a Flutter traveler app, React-based agency portal, hotel portal, and admin portal, all connected to a centralized backend.</a:t>
            </a:r>
          </a:p>
          <a:p>
            <a:pPr algn="just" eaLnBrk="0" fontAlgn="base" hangingPunct="0">
              <a:spcBef>
                <a:spcPct val="0"/>
              </a:spcBef>
              <a:spcAft>
                <a:spcPct val="0"/>
              </a:spcAf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backend is built using Node.js, Express, TypeScript, Prisma, and </a:t>
            </a:r>
            <a:r>
              <a:rPr kumimoji="0" lang="en-US" altLang="en-US" sz="20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Supabase</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PostgreSQL.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3149" y="143613"/>
            <a:ext cx="8229600" cy="1143000"/>
          </a:xfrm>
        </p:spPr>
        <p:txBody>
          <a:bodyPr/>
          <a:lstStyle/>
          <a:p>
            <a:pPr algn="l"/>
            <a:r>
              <a:rPr lang="en-US" dirty="0">
                <a:latin typeface="Times New Roman" panose="02020603050405020304" pitchFamily="18" charset="0"/>
                <a:cs typeface="Times New Roman" panose="02020603050405020304" pitchFamily="18" charset="0"/>
                <a:sym typeface="+mn-ea"/>
              </a:rPr>
              <a:t>Scope</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sp>
        <p:nvSpPr>
          <p:cNvPr id="14" name="Rectangle 7">
            <a:extLst>
              <a:ext uri="{FF2B5EF4-FFF2-40B4-BE49-F238E27FC236}">
                <a16:creationId xmlns:a16="http://schemas.microsoft.com/office/drawing/2014/main" id="{8A3C522D-2A64-3BD2-A8D7-B38A202E7525}"/>
              </a:ext>
            </a:extLst>
          </p:cNvPr>
          <p:cNvSpPr>
            <a:spLocks noGrp="1" noChangeArrowheads="1"/>
          </p:cNvSpPr>
          <p:nvPr>
            <p:ph idx="1"/>
          </p:nvPr>
        </p:nvSpPr>
        <p:spPr bwMode="auto">
          <a:xfrm>
            <a:off x="342900" y="1066800"/>
            <a:ext cx="8458200" cy="621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a traveler mobile application for trip requests, bid viewing, package browsing, bookings, chat, and profile management.</a:t>
            </a:r>
          </a:p>
          <a:p>
            <a:pPr eaLnBrk="0" fontAlgn="base" hangingPunct="0">
              <a:spcBef>
                <a:spcPct val="0"/>
              </a:spcBef>
              <a:spcAft>
                <a:spcPct val="0"/>
              </a:spcAf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an agency portal for managing hotels, rooms, vehicles, packages, trip offers, and bookings.</a:t>
            </a:r>
          </a:p>
          <a:p>
            <a:pPr eaLnBrk="0" fontAlgn="base" hangingPunct="0">
              <a:spcBef>
                <a:spcPct val="0"/>
              </a:spcBef>
              <a:spcAft>
                <a:spcPct val="0"/>
              </a:spcAf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a hotel portal for managing room types, services, and booking activity.</a:t>
            </a:r>
          </a:p>
          <a:p>
            <a:pPr eaLnBrk="0" fontAlgn="base" hangingPunct="0">
              <a:spcBef>
                <a:spcPct val="0"/>
              </a:spcBef>
              <a:spcAft>
                <a:spcPct val="0"/>
              </a:spcAf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an admin portal for verification, approval, monitoring, and system-level control.</a:t>
            </a:r>
          </a:p>
          <a:p>
            <a:pPr eaLnBrk="0" fontAlgn="base" hangingPunct="0">
              <a:spcBef>
                <a:spcPct val="0"/>
              </a:spcBef>
              <a:spcAft>
                <a:spcPct val="0"/>
              </a:spcAf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a trip request and bidding mechanism that allows travelers to receive customized offers from agencies.</a:t>
            </a:r>
          </a:p>
          <a:p>
            <a:pPr eaLnBrk="0" fontAlgn="base" hangingPunct="0">
              <a:spcBef>
                <a:spcPct val="0"/>
              </a:spcBef>
              <a:spcAft>
                <a:spcPct val="0"/>
              </a:spcAf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3A672-8776-AF51-28C1-37B6C0D335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3E360B-61D3-F08D-5B6E-F9002643F486}"/>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sym typeface="+mn-ea"/>
              </a:rPr>
              <a:t>Scope(</a:t>
            </a:r>
            <a:r>
              <a:rPr lang="en-US" i="1" dirty="0" err="1">
                <a:latin typeface="Times New Roman" panose="02020603050405020304" pitchFamily="18" charset="0"/>
                <a:cs typeface="Times New Roman" panose="02020603050405020304" pitchFamily="18" charset="0"/>
                <a:sym typeface="+mn-ea"/>
              </a:rPr>
              <a:t>cont</a:t>
            </a:r>
            <a:r>
              <a:rPr lang="en-US" dirty="0">
                <a:latin typeface="Times New Roman" panose="02020603050405020304" pitchFamily="18" charset="0"/>
                <a:cs typeface="Times New Roman" panose="02020603050405020304" pitchFamily="18" charset="0"/>
                <a:sym typeface="+mn-ea"/>
              </a:rPr>
              <a:t>)</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9F513BB-FDB3-7B09-1739-68E2403B25B2}"/>
              </a:ext>
            </a:extLst>
          </p:cNvPr>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5</a:t>
            </a:fld>
            <a:endParaRPr lang="en-US">
              <a:latin typeface="Times New Roman" panose="02020603050405020304" pitchFamily="18" charset="0"/>
              <a:cs typeface="Times New Roman" panose="02020603050405020304" pitchFamily="18" charset="0"/>
            </a:endParaRPr>
          </a:p>
        </p:txBody>
      </p:sp>
      <p:sp>
        <p:nvSpPr>
          <p:cNvPr id="14" name="Rectangle 7">
            <a:extLst>
              <a:ext uri="{FF2B5EF4-FFF2-40B4-BE49-F238E27FC236}">
                <a16:creationId xmlns:a16="http://schemas.microsoft.com/office/drawing/2014/main" id="{AAAB1357-11B3-CE1C-5D4B-3F4D4CE17655}"/>
              </a:ext>
            </a:extLst>
          </p:cNvPr>
          <p:cNvSpPr>
            <a:spLocks noGrp="1" noChangeArrowheads="1"/>
          </p:cNvSpPr>
          <p:nvPr>
            <p:ph idx="1"/>
          </p:nvPr>
        </p:nvSpPr>
        <p:spPr bwMode="auto">
          <a:xfrm>
            <a:off x="342900" y="880244"/>
            <a:ext cx="8458200"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hotel, vehicle, and package management within the platform.</a:t>
            </a:r>
          </a:p>
          <a:p>
            <a:pPr eaLnBrk="0" fontAlgn="base" hangingPunct="0">
              <a:spcBef>
                <a:spcPct val="0"/>
              </a:spcBef>
              <a:spcAft>
                <a:spcPct val="0"/>
              </a:spcAf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booking creation and booking status tracking for multiple travel services.</a:t>
            </a:r>
          </a:p>
          <a:p>
            <a:pPr eaLnBrk="0" fontAlgn="base" hangingPunct="0">
              <a:spcBef>
                <a:spcPct val="0"/>
              </a:spcBef>
              <a:spcAft>
                <a:spcPct val="0"/>
              </a:spcAf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real-time communication and updates for chat and marketplace events.</a:t>
            </a:r>
          </a:p>
          <a:p>
            <a:pPr eaLnBrk="0" fontAlgn="base" hangingPunct="0">
              <a:spcBef>
                <a:spcPct val="0"/>
              </a:spcBef>
              <a:spcAft>
                <a:spcPct val="0"/>
              </a:spcAf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authentication, KYC verification, and role-based access control for secure platform usage.</a:t>
            </a:r>
          </a:p>
          <a:p>
            <a:pPr eaLnBrk="0" fontAlgn="base" hangingPunct="0">
              <a:spcBef>
                <a:spcPct val="0"/>
              </a:spcBef>
              <a:spcAft>
                <a:spcPct val="0"/>
              </a:spcAf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 centralized backend and relational database to manage all business logic and data consistently.</a:t>
            </a:r>
            <a:endParaRPr lang="en-US" altLang="en-US" sz="2800" dirty="0">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8423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7199"/>
          </a:xfrm>
        </p:spPr>
        <p:txBody>
          <a:bodyPr>
            <a:normAutofit fontScale="90000"/>
          </a:bodyPr>
          <a:lstStyle/>
          <a:p>
            <a:pPr algn="l"/>
            <a:r>
              <a:rPr lang="en-US" altLang="en-US" dirty="0">
                <a:latin typeface="Times New Roman" panose="02020603050405020304" pitchFamily="18" charset="0"/>
                <a:cs typeface="Times New Roman" panose="02020603050405020304" pitchFamily="18" charset="0"/>
              </a:rPr>
              <a:t>Functional Requirements</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6</a:t>
            </a:fld>
            <a:endParaRPr lang="en-US">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C888B0EE-0970-E2AB-ADF2-A349B7E73C40}"/>
              </a:ext>
            </a:extLst>
          </p:cNvPr>
          <p:cNvSpPr>
            <a:spLocks noGrp="1"/>
          </p:cNvSpPr>
          <p:nvPr>
            <p:ph idx="1"/>
          </p:nvPr>
        </p:nvSpPr>
        <p:spPr>
          <a:xfrm>
            <a:off x="457200" y="949582"/>
            <a:ext cx="8229600" cy="5394326"/>
          </a:xfrm>
        </p:spPr>
        <p:txBody>
          <a:bodyPr>
            <a:normAutofit fontScale="62500" lnSpcReduction="20000"/>
          </a:bodyPr>
          <a:lstStyle/>
          <a:p>
            <a:pPr marL="0" indent="0">
              <a:buNone/>
            </a:pPr>
            <a:r>
              <a:rPr lang="en-US" sz="3300" b="1" dirty="0">
                <a:latin typeface="Times New Roman" panose="02020603050405020304" pitchFamily="18" charset="0"/>
                <a:cs typeface="Times New Roman" panose="02020603050405020304" pitchFamily="18" charset="0"/>
              </a:rPr>
              <a:t>Traveler Functional Requirements</a:t>
            </a:r>
          </a:p>
          <a:p>
            <a:endParaRPr lang="en-US" sz="3300" b="1" dirty="0">
              <a:latin typeface="Times New Roman" panose="02020603050405020304" pitchFamily="18" charset="0"/>
              <a:cs typeface="Times New Roman" panose="02020603050405020304" pitchFamily="18" charset="0"/>
            </a:endParaRPr>
          </a:p>
          <a:p>
            <a:r>
              <a:rPr lang="en-US" sz="3300" b="1" dirty="0">
                <a:latin typeface="Times New Roman" panose="02020603050405020304" pitchFamily="18" charset="0"/>
                <a:cs typeface="Times New Roman" panose="02020603050405020304" pitchFamily="18" charset="0"/>
              </a:rPr>
              <a:t>Traveler Registration and Login</a:t>
            </a:r>
            <a:r>
              <a:rPr lang="en-US" sz="3300" dirty="0">
                <a:latin typeface="Times New Roman" panose="02020603050405020304" pitchFamily="18" charset="0"/>
                <a:cs typeface="Times New Roman" panose="02020603050405020304" pitchFamily="18" charset="0"/>
              </a:rPr>
              <a:t>: Allows travelers to create an account and securely access the </a:t>
            </a:r>
            <a:r>
              <a:rPr lang="en-US" sz="3300" dirty="0" err="1">
                <a:latin typeface="Times New Roman" panose="02020603050405020304" pitchFamily="18" charset="0"/>
                <a:cs typeface="Times New Roman" panose="02020603050405020304" pitchFamily="18" charset="0"/>
              </a:rPr>
              <a:t>TrekPal</a:t>
            </a:r>
            <a:r>
              <a:rPr lang="en-US" sz="3300" dirty="0">
                <a:latin typeface="Times New Roman" panose="02020603050405020304" pitchFamily="18" charset="0"/>
                <a:cs typeface="Times New Roman" panose="02020603050405020304" pitchFamily="18" charset="0"/>
              </a:rPr>
              <a:t> platform.</a:t>
            </a:r>
          </a:p>
          <a:p>
            <a:r>
              <a:rPr lang="en-US" sz="3300" b="1" dirty="0">
                <a:latin typeface="Times New Roman" panose="02020603050405020304" pitchFamily="18" charset="0"/>
                <a:cs typeface="Times New Roman" panose="02020603050405020304" pitchFamily="18" charset="0"/>
              </a:rPr>
              <a:t>Traveler Verification</a:t>
            </a:r>
            <a:r>
              <a:rPr lang="en-US" sz="3300" dirty="0">
                <a:latin typeface="Times New Roman" panose="02020603050405020304" pitchFamily="18" charset="0"/>
                <a:cs typeface="Times New Roman" panose="02020603050405020304" pitchFamily="18" charset="0"/>
              </a:rPr>
              <a:t>: Enables travelers to submit KYC and identity details for approval.</a:t>
            </a:r>
          </a:p>
          <a:p>
            <a:r>
              <a:rPr lang="en-US" sz="3300" b="1" dirty="0">
                <a:latin typeface="Times New Roman" panose="02020603050405020304" pitchFamily="18" charset="0"/>
                <a:cs typeface="Times New Roman" panose="02020603050405020304" pitchFamily="18" charset="0"/>
              </a:rPr>
              <a:t>Browse Hotels and Packages</a:t>
            </a:r>
            <a:r>
              <a:rPr lang="en-US" sz="3300" dirty="0">
                <a:latin typeface="Times New Roman" panose="02020603050405020304" pitchFamily="18" charset="0"/>
                <a:cs typeface="Times New Roman" panose="02020603050405020304" pitchFamily="18" charset="0"/>
              </a:rPr>
              <a:t>: Allows travelers to explore available hotels and travel package offerings.</a:t>
            </a:r>
          </a:p>
          <a:p>
            <a:r>
              <a:rPr lang="en-US" sz="3300" b="1" dirty="0">
                <a:latin typeface="Times New Roman" panose="02020603050405020304" pitchFamily="18" charset="0"/>
                <a:cs typeface="Times New Roman" panose="02020603050405020304" pitchFamily="18" charset="0"/>
              </a:rPr>
              <a:t>Create Trip Request</a:t>
            </a:r>
            <a:r>
              <a:rPr lang="en-US" sz="3300" dirty="0">
                <a:latin typeface="Times New Roman" panose="02020603050405020304" pitchFamily="18" charset="0"/>
                <a:cs typeface="Times New Roman" panose="02020603050405020304" pitchFamily="18" charset="0"/>
              </a:rPr>
              <a:t>: Enables travelers to define trip needs such as destination, dates, and budget.</a:t>
            </a:r>
          </a:p>
          <a:p>
            <a:r>
              <a:rPr lang="en-US" sz="3300" b="1" dirty="0">
                <a:latin typeface="Times New Roman" panose="02020603050405020304" pitchFamily="18" charset="0"/>
                <a:cs typeface="Times New Roman" panose="02020603050405020304" pitchFamily="18" charset="0"/>
              </a:rPr>
              <a:t>View and Accept Bids</a:t>
            </a:r>
            <a:r>
              <a:rPr lang="en-US" sz="3300" dirty="0">
                <a:latin typeface="Times New Roman" panose="02020603050405020304" pitchFamily="18" charset="0"/>
                <a:cs typeface="Times New Roman" panose="02020603050405020304" pitchFamily="18" charset="0"/>
              </a:rPr>
              <a:t>: Allows travelers to review agency offers and accept the most suitable one.</a:t>
            </a:r>
          </a:p>
          <a:p>
            <a:r>
              <a:rPr lang="en-US" sz="3300" b="1" dirty="0">
                <a:latin typeface="Times New Roman" panose="02020603050405020304" pitchFamily="18" charset="0"/>
                <a:cs typeface="Times New Roman" panose="02020603050405020304" pitchFamily="18" charset="0"/>
              </a:rPr>
              <a:t>View Bookings</a:t>
            </a:r>
            <a:r>
              <a:rPr lang="en-US" sz="3300" dirty="0">
                <a:latin typeface="Times New Roman" panose="02020603050405020304" pitchFamily="18" charset="0"/>
                <a:cs typeface="Times New Roman" panose="02020603050405020304" pitchFamily="18" charset="0"/>
              </a:rPr>
              <a:t>: Enables travelers to track their confirmed and past booking records.</a:t>
            </a:r>
          </a:p>
          <a:p>
            <a:r>
              <a:rPr lang="en-US" sz="3300" b="1" dirty="0">
                <a:latin typeface="Times New Roman" panose="02020603050405020304" pitchFamily="18" charset="0"/>
                <a:cs typeface="Times New Roman" panose="02020603050405020304" pitchFamily="18" charset="0"/>
              </a:rPr>
              <a:t>Group Trip Participation</a:t>
            </a:r>
            <a:r>
              <a:rPr lang="en-US" sz="3300" dirty="0">
                <a:latin typeface="Times New Roman" panose="02020603050405020304" pitchFamily="18" charset="0"/>
                <a:cs typeface="Times New Roman" panose="02020603050405020304" pitchFamily="18" charset="0"/>
              </a:rPr>
              <a:t>: Allows travelers to join trip groups.</a:t>
            </a:r>
          </a:p>
          <a:p>
            <a:r>
              <a:rPr lang="en-US" sz="3300" b="1" dirty="0">
                <a:latin typeface="Times New Roman" panose="02020603050405020304" pitchFamily="18" charset="0"/>
                <a:cs typeface="Times New Roman" panose="02020603050405020304" pitchFamily="18" charset="0"/>
              </a:rPr>
              <a:t>Submit Review</a:t>
            </a:r>
            <a:r>
              <a:rPr lang="en-US" sz="3300" dirty="0">
                <a:latin typeface="Times New Roman" panose="02020603050405020304" pitchFamily="18" charset="0"/>
                <a:cs typeface="Times New Roman" panose="02020603050405020304" pitchFamily="18" charset="0"/>
              </a:rPr>
              <a:t>: Enables travelers to provide feedback and ratings after completing a trip or booking.</a:t>
            </a:r>
          </a:p>
          <a:p>
            <a:pPr marL="0" indent="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18275-C66C-C1F1-2D24-8EA3480D6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2F881-9D35-1C53-4A68-A33D19D2181F}"/>
              </a:ext>
            </a:extLst>
          </p:cNvPr>
          <p:cNvSpPr>
            <a:spLocks noGrp="1"/>
          </p:cNvSpPr>
          <p:nvPr>
            <p:ph type="title"/>
          </p:nvPr>
        </p:nvSpPr>
        <p:spPr>
          <a:xfrm>
            <a:off x="457200" y="274638"/>
            <a:ext cx="8229600" cy="639762"/>
          </a:xfrm>
        </p:spPr>
        <p:txBody>
          <a:bodyPr>
            <a:normAutofit fontScale="90000"/>
          </a:bodyPr>
          <a:lstStyle/>
          <a:p>
            <a:pPr algn="l"/>
            <a:r>
              <a:rPr lang="en-US" altLang="en-US" dirty="0">
                <a:latin typeface="Times New Roman" panose="02020603050405020304" pitchFamily="18" charset="0"/>
                <a:cs typeface="Times New Roman" panose="02020603050405020304" pitchFamily="18" charset="0"/>
              </a:rPr>
              <a:t>Functional Requirements</a:t>
            </a:r>
            <a:r>
              <a:rPr lang="en-US" altLang="en-US" i="1" dirty="0">
                <a:latin typeface="Times New Roman" panose="02020603050405020304" pitchFamily="18" charset="0"/>
                <a:cs typeface="Times New Roman" panose="02020603050405020304" pitchFamily="18" charset="0"/>
              </a:rPr>
              <a:t>(Cont.)</a:t>
            </a:r>
            <a:endParaRPr lang="en-US" alt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9A775E8-C9A7-4FC4-3E45-201D020D9E0B}"/>
              </a:ext>
            </a:extLst>
          </p:cNvPr>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3563124-F254-5243-70E7-AB1732B7F12F}"/>
              </a:ext>
            </a:extLst>
          </p:cNvPr>
          <p:cNvSpPr>
            <a:spLocks noGrp="1"/>
          </p:cNvSpPr>
          <p:nvPr>
            <p:ph idx="1"/>
          </p:nvPr>
        </p:nvSpPr>
        <p:spPr>
          <a:xfrm>
            <a:off x="457200" y="914400"/>
            <a:ext cx="8229600" cy="5211763"/>
          </a:xfrm>
        </p:spPr>
        <p:txBody>
          <a:bodyPr>
            <a:normAutofit fontScale="70000" lnSpcReduction="20000"/>
          </a:bodyPr>
          <a:lstStyle/>
          <a:p>
            <a:pPr marL="0" indent="0">
              <a:buNone/>
            </a:pPr>
            <a:r>
              <a:rPr lang="en-US" b="1" dirty="0">
                <a:latin typeface="Times New Roman" panose="02020603050405020304" pitchFamily="18" charset="0"/>
                <a:cs typeface="Times New Roman" panose="02020603050405020304" pitchFamily="18" charset="0"/>
              </a:rPr>
              <a:t>Agency Functional Requirements</a:t>
            </a:r>
          </a:p>
          <a:p>
            <a:pPr marL="0" indent="0">
              <a:buNone/>
            </a:pP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Agency Registration</a:t>
            </a:r>
            <a:r>
              <a:rPr lang="en-US" dirty="0">
                <a:latin typeface="Times New Roman" panose="02020603050405020304" pitchFamily="18" charset="0"/>
                <a:cs typeface="Times New Roman" panose="02020603050405020304" pitchFamily="18" charset="0"/>
              </a:rPr>
              <a:t>: Allows travel agencies to create a portal account and join the platform.</a:t>
            </a:r>
          </a:p>
          <a:p>
            <a:r>
              <a:rPr lang="en-US" b="1" dirty="0">
                <a:latin typeface="Times New Roman" panose="02020603050405020304" pitchFamily="18" charset="0"/>
                <a:cs typeface="Times New Roman" panose="02020603050405020304" pitchFamily="18" charset="0"/>
              </a:rPr>
              <a:t>Agency Verification</a:t>
            </a:r>
            <a:r>
              <a:rPr lang="en-US" dirty="0">
                <a:latin typeface="Times New Roman" panose="02020603050405020304" pitchFamily="18" charset="0"/>
                <a:cs typeface="Times New Roman" panose="02020603050405020304" pitchFamily="18" charset="0"/>
              </a:rPr>
              <a:t>: Enables agencies to submit business and legal documents for approval.</a:t>
            </a:r>
          </a:p>
          <a:p>
            <a:r>
              <a:rPr lang="en-US" b="1" dirty="0">
                <a:latin typeface="Times New Roman" panose="02020603050405020304" pitchFamily="18" charset="0"/>
                <a:cs typeface="Times New Roman" panose="02020603050405020304" pitchFamily="18" charset="0"/>
              </a:rPr>
              <a:t>Manage Hotels</a:t>
            </a:r>
            <a:r>
              <a:rPr lang="en-US" dirty="0">
                <a:latin typeface="Times New Roman" panose="02020603050405020304" pitchFamily="18" charset="0"/>
                <a:cs typeface="Times New Roman" panose="02020603050405020304" pitchFamily="18" charset="0"/>
              </a:rPr>
              <a:t>: Allows agencies to add, update, and manage hotel listings.</a:t>
            </a:r>
          </a:p>
          <a:p>
            <a:r>
              <a:rPr lang="en-US" b="1" dirty="0">
                <a:latin typeface="Times New Roman" panose="02020603050405020304" pitchFamily="18" charset="0"/>
                <a:cs typeface="Times New Roman" panose="02020603050405020304" pitchFamily="18" charset="0"/>
              </a:rPr>
              <a:t>Manage Rooms and Food Menus</a:t>
            </a:r>
            <a:r>
              <a:rPr lang="en-US" dirty="0">
                <a:latin typeface="Times New Roman" panose="02020603050405020304" pitchFamily="18" charset="0"/>
                <a:cs typeface="Times New Roman" panose="02020603050405020304" pitchFamily="18" charset="0"/>
              </a:rPr>
              <a:t>: Enables agencies to maintain room-related details and associated service/menu data.</a:t>
            </a:r>
          </a:p>
          <a:p>
            <a:r>
              <a:rPr lang="en-US" b="1" dirty="0">
                <a:latin typeface="Times New Roman" panose="02020603050405020304" pitchFamily="18" charset="0"/>
                <a:cs typeface="Times New Roman" panose="02020603050405020304" pitchFamily="18" charset="0"/>
              </a:rPr>
              <a:t>Manage Vehicles</a:t>
            </a:r>
            <a:r>
              <a:rPr lang="en-US" dirty="0">
                <a:latin typeface="Times New Roman" panose="02020603050405020304" pitchFamily="18" charset="0"/>
                <a:cs typeface="Times New Roman" panose="02020603050405020304" pitchFamily="18" charset="0"/>
              </a:rPr>
              <a:t>: Allows agencies to register and update transport inventory.</a:t>
            </a:r>
          </a:p>
          <a:p>
            <a:r>
              <a:rPr lang="en-US" b="1" dirty="0">
                <a:latin typeface="Times New Roman" panose="02020603050405020304" pitchFamily="18" charset="0"/>
                <a:cs typeface="Times New Roman" panose="02020603050405020304" pitchFamily="18" charset="0"/>
              </a:rPr>
              <a:t>Manage Vehicle Availability</a:t>
            </a:r>
            <a:r>
              <a:rPr lang="en-US" dirty="0">
                <a:latin typeface="Times New Roman" panose="02020603050405020304" pitchFamily="18" charset="0"/>
                <a:cs typeface="Times New Roman" panose="02020603050405020304" pitchFamily="18" charset="0"/>
              </a:rPr>
              <a:t>: Enables agencies to control vehicle availability for travel operations.</a:t>
            </a:r>
          </a:p>
          <a:p>
            <a:r>
              <a:rPr lang="en-US" b="1" dirty="0">
                <a:latin typeface="Times New Roman" panose="02020603050405020304" pitchFamily="18" charset="0"/>
                <a:cs typeface="Times New Roman" panose="02020603050405020304" pitchFamily="18" charset="0"/>
              </a:rPr>
              <a:t>View Trip Requests</a:t>
            </a:r>
            <a:r>
              <a:rPr lang="en-US" dirty="0">
                <a:latin typeface="Times New Roman" panose="02020603050405020304" pitchFamily="18" charset="0"/>
                <a:cs typeface="Times New Roman" panose="02020603050405020304" pitchFamily="18" charset="0"/>
              </a:rPr>
              <a:t>: Allows agencies to view traveler trip requests that are open for bidding.</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9681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8057B-B616-C3B6-6F2A-3AA1AE0A2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11425-6E34-73D1-42A9-D2D0D80E9476}"/>
              </a:ext>
            </a:extLst>
          </p:cNvPr>
          <p:cNvSpPr>
            <a:spLocks noGrp="1"/>
          </p:cNvSpPr>
          <p:nvPr>
            <p:ph type="title"/>
          </p:nvPr>
        </p:nvSpPr>
        <p:spPr/>
        <p:txBody>
          <a:bodyPr/>
          <a:lstStyle/>
          <a:p>
            <a:pPr algn="l"/>
            <a:r>
              <a:rPr lang="en-US" altLang="en-US" dirty="0">
                <a:latin typeface="Times New Roman" panose="02020603050405020304" pitchFamily="18" charset="0"/>
                <a:cs typeface="Times New Roman" panose="02020603050405020304" pitchFamily="18" charset="0"/>
              </a:rPr>
              <a:t>Functional Requirements</a:t>
            </a:r>
            <a:r>
              <a:rPr lang="en-US" altLang="en-US" i="1" dirty="0">
                <a:latin typeface="Times New Roman" panose="02020603050405020304" pitchFamily="18" charset="0"/>
                <a:cs typeface="Times New Roman" panose="02020603050405020304" pitchFamily="18" charset="0"/>
              </a:rPr>
              <a:t>(Cont.)</a:t>
            </a:r>
            <a:endParaRPr lang="en-US" alt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71B5DDE-7F19-3552-80DE-14B74407AC48}"/>
              </a:ext>
            </a:extLst>
          </p:cNvPr>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8</a:t>
            </a:fld>
            <a:endParaRPr lang="en-US">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C9E3B5C4-1644-0781-07F9-4999DEC684B5}"/>
              </a:ext>
            </a:extLst>
          </p:cNvPr>
          <p:cNvSpPr>
            <a:spLocks noGrp="1"/>
          </p:cNvSpPr>
          <p:nvPr>
            <p:ph idx="1"/>
          </p:nvPr>
        </p:nvSpPr>
        <p:spPr>
          <a:xfrm>
            <a:off x="457200" y="1219200"/>
            <a:ext cx="8229600" cy="4906963"/>
          </a:xfrm>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Hotel Portal Functional Requirements</a:t>
            </a:r>
          </a:p>
          <a:p>
            <a:pPr marL="0" indent="0">
              <a:buNone/>
            </a:pP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Hotel Registration</a:t>
            </a:r>
            <a:r>
              <a:rPr lang="en-US" dirty="0">
                <a:latin typeface="Times New Roman" panose="02020603050405020304" pitchFamily="18" charset="0"/>
                <a:cs typeface="Times New Roman" panose="02020603050405020304" pitchFamily="18" charset="0"/>
              </a:rPr>
              <a:t>: Allows hotels to register and gain access to the hotel management portal.</a:t>
            </a:r>
          </a:p>
          <a:p>
            <a:r>
              <a:rPr lang="en-US" b="1" dirty="0">
                <a:latin typeface="Times New Roman" panose="02020603050405020304" pitchFamily="18" charset="0"/>
                <a:cs typeface="Times New Roman" panose="02020603050405020304" pitchFamily="18" charset="0"/>
              </a:rPr>
              <a:t>Manage Rooms and Services</a:t>
            </a:r>
            <a:r>
              <a:rPr lang="en-US" dirty="0">
                <a:latin typeface="Times New Roman" panose="02020603050405020304" pitchFamily="18" charset="0"/>
                <a:cs typeface="Times New Roman" panose="02020603050405020304" pitchFamily="18" charset="0"/>
              </a:rPr>
              <a:t>: Enables hotels to create and update room types and hotel service offerings.</a:t>
            </a:r>
          </a:p>
          <a:p>
            <a:r>
              <a:rPr lang="en-US" b="1" dirty="0">
                <a:latin typeface="Times New Roman" panose="02020603050405020304" pitchFamily="18" charset="0"/>
                <a:cs typeface="Times New Roman" panose="02020603050405020304" pitchFamily="18" charset="0"/>
              </a:rPr>
              <a:t>View Booking Activity</a:t>
            </a:r>
            <a:r>
              <a:rPr lang="en-US" dirty="0">
                <a:latin typeface="Times New Roman" panose="02020603050405020304" pitchFamily="18" charset="0"/>
                <a:cs typeface="Times New Roman" panose="02020603050405020304" pitchFamily="18" charset="0"/>
              </a:rPr>
              <a:t>: Allows hotels to monitor bookings associated with their rooms and services.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3880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C733E-258A-FF2F-181C-6949FF98B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81114-AC34-24C0-3F6D-7C2F912FADA9}"/>
              </a:ext>
            </a:extLst>
          </p:cNvPr>
          <p:cNvSpPr>
            <a:spLocks noGrp="1"/>
          </p:cNvSpPr>
          <p:nvPr>
            <p:ph type="title"/>
          </p:nvPr>
        </p:nvSpPr>
        <p:spPr/>
        <p:txBody>
          <a:bodyPr/>
          <a:lstStyle/>
          <a:p>
            <a:pPr algn="l"/>
            <a:r>
              <a:rPr lang="en-US" altLang="en-US" dirty="0">
                <a:latin typeface="Times New Roman" panose="02020603050405020304" pitchFamily="18" charset="0"/>
                <a:cs typeface="Times New Roman" panose="02020603050405020304" pitchFamily="18" charset="0"/>
              </a:rPr>
              <a:t>Functional Requirements</a:t>
            </a:r>
            <a:r>
              <a:rPr lang="en-US" altLang="en-US" i="1" dirty="0">
                <a:latin typeface="Times New Roman" panose="02020603050405020304" pitchFamily="18" charset="0"/>
                <a:cs typeface="Times New Roman" panose="02020603050405020304" pitchFamily="18" charset="0"/>
              </a:rPr>
              <a:t>(Cont.)</a:t>
            </a:r>
            <a:endParaRPr lang="en-US" alt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290E6B6-D5A1-AD6E-6D4B-492B3E3F95B0}"/>
              </a:ext>
            </a:extLst>
          </p:cNvPr>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9</a:t>
            </a:fld>
            <a:endParaRPr lang="en-US">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5489583B-176D-6AFD-B247-59DAF74574AE}"/>
              </a:ext>
            </a:extLst>
          </p:cNvPr>
          <p:cNvSpPr>
            <a:spLocks noGrp="1"/>
          </p:cNvSpPr>
          <p:nvPr>
            <p:ph idx="1"/>
          </p:nvPr>
        </p:nvSpPr>
        <p:spPr>
          <a:xfrm>
            <a:off x="457200" y="1295400"/>
            <a:ext cx="8229600" cy="4830763"/>
          </a:xfrm>
        </p:spPr>
        <p:txBody>
          <a:bodyP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Admin Functional Requirements</a:t>
            </a:r>
          </a:p>
          <a:p>
            <a:pPr marL="0" indent="0">
              <a:buNone/>
            </a:pP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Approve/Reject Agency Registration</a:t>
            </a:r>
            <a:r>
              <a:rPr lang="en-US" dirty="0">
                <a:latin typeface="Times New Roman" panose="02020603050405020304" pitchFamily="18" charset="0"/>
                <a:cs typeface="Times New Roman" panose="02020603050405020304" pitchFamily="18" charset="0"/>
              </a:rPr>
              <a:t>: Allows administrators to review and decide agency approval requests.</a:t>
            </a:r>
          </a:p>
          <a:p>
            <a:r>
              <a:rPr lang="en-US" b="1" dirty="0">
                <a:latin typeface="Times New Roman" panose="02020603050405020304" pitchFamily="18" charset="0"/>
                <a:cs typeface="Times New Roman" panose="02020603050405020304" pitchFamily="18" charset="0"/>
              </a:rPr>
              <a:t>Approve/Reject Hotels</a:t>
            </a:r>
            <a:r>
              <a:rPr lang="en-US" dirty="0">
                <a:latin typeface="Times New Roman" panose="02020603050405020304" pitchFamily="18" charset="0"/>
                <a:cs typeface="Times New Roman" panose="02020603050405020304" pitchFamily="18" charset="0"/>
              </a:rPr>
              <a:t>: Enables administrators to control which hotel entries are accepted into the platform.</a:t>
            </a:r>
          </a:p>
          <a:p>
            <a:r>
              <a:rPr lang="en-US" b="1" dirty="0">
                <a:latin typeface="Times New Roman" panose="02020603050405020304" pitchFamily="18" charset="0"/>
                <a:cs typeface="Times New Roman" panose="02020603050405020304" pitchFamily="18" charset="0"/>
              </a:rPr>
              <a:t>Approve/Reject Vehicles</a:t>
            </a:r>
            <a:r>
              <a:rPr lang="en-US" dirty="0">
                <a:latin typeface="Times New Roman" panose="02020603050405020304" pitchFamily="18" charset="0"/>
                <a:cs typeface="Times New Roman" panose="02020603050405020304" pitchFamily="18" charset="0"/>
              </a:rPr>
              <a:t>: Allows administrators to review and approve or reject vehicle submissions.</a:t>
            </a:r>
          </a:p>
          <a:p>
            <a:r>
              <a:rPr lang="en-US" b="1" dirty="0">
                <a:latin typeface="Times New Roman" panose="02020603050405020304" pitchFamily="18" charset="0"/>
                <a:cs typeface="Times New Roman" panose="02020603050405020304" pitchFamily="18" charset="0"/>
              </a:rPr>
              <a:t>Approve Traveler Verification</a:t>
            </a:r>
            <a:r>
              <a:rPr lang="en-US" dirty="0">
                <a:latin typeface="Times New Roman" panose="02020603050405020304" pitchFamily="18" charset="0"/>
                <a:cs typeface="Times New Roman" panose="02020603050405020304" pitchFamily="18" charset="0"/>
              </a:rPr>
              <a:t>: Enables administrators to validate and approve traveler KYC submissions.</a:t>
            </a:r>
          </a:p>
          <a:p>
            <a:r>
              <a:rPr lang="en-US" b="1" dirty="0">
                <a:latin typeface="Times New Roman" panose="02020603050405020304" pitchFamily="18" charset="0"/>
                <a:cs typeface="Times New Roman" panose="02020603050405020304" pitchFamily="18" charset="0"/>
              </a:rPr>
              <a:t>Content Moderation</a:t>
            </a:r>
            <a:r>
              <a:rPr lang="en-US" dirty="0">
                <a:latin typeface="Times New Roman" panose="02020603050405020304" pitchFamily="18" charset="0"/>
                <a:cs typeface="Times New Roman" panose="02020603050405020304" pitchFamily="18" charset="0"/>
              </a:rPr>
              <a:t>: Allows administrators to oversee and control platform content for quality and compliance.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942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17"/>
            <a:ext cx="8229600" cy="1143000"/>
          </a:xfrm>
        </p:spPr>
        <p:txBody>
          <a:bodyPr>
            <a:normAutofit/>
          </a:bodyPr>
          <a:lstStyle/>
          <a:p>
            <a:pPr algn="l"/>
            <a:r>
              <a:rPr lang="en-US" altLang="en-US" sz="4000" dirty="0">
                <a:latin typeface="Times New Roman" panose="02020603050405020304" pitchFamily="18" charset="0"/>
                <a:cs typeface="Times New Roman" panose="02020603050405020304" pitchFamily="18" charset="0"/>
              </a:rPr>
              <a:t>Non-Functional Requirements</a:t>
            </a:r>
          </a:p>
        </p:txBody>
      </p:sp>
      <p:sp>
        <p:nvSpPr>
          <p:cNvPr id="3" name="Content Placeholder 2"/>
          <p:cNvSpPr>
            <a:spLocks noGrp="1"/>
          </p:cNvSpPr>
          <p:nvPr>
            <p:ph idx="1"/>
          </p:nvPr>
        </p:nvSpPr>
        <p:spPr>
          <a:xfrm>
            <a:off x="457200" y="1219200"/>
            <a:ext cx="8229600" cy="5348605"/>
          </a:xfrm>
        </p:spPr>
        <p:txBody>
          <a:bodyPr>
            <a:noAutofit/>
          </a:bodyPr>
          <a:lstStyle/>
          <a:p>
            <a:pPr marL="114300" indent="0">
              <a:buNone/>
            </a:pPr>
            <a:r>
              <a:rPr lang="en-US" sz="2400" b="1" dirty="0">
                <a:latin typeface="Times New Roman" panose="02020603050405020304" pitchFamily="18" charset="0"/>
                <a:cs typeface="Times New Roman" panose="02020603050405020304" pitchFamily="18" charset="0"/>
              </a:rPr>
              <a:t> Usability Requirements</a:t>
            </a:r>
          </a:p>
          <a:p>
            <a:pPr lvl="0"/>
            <a:r>
              <a:rPr lang="en-US" sz="1600" dirty="0">
                <a:latin typeface="Times New Roman" panose="02020603050405020304" pitchFamily="18" charset="0"/>
                <a:cs typeface="Times New Roman" panose="02020603050405020304" pitchFamily="18" charset="0"/>
              </a:rPr>
              <a:t>NFR-USE-01 — Simple &amp; Intuitive UI</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system shall provide a clean and easy-to-navigate interface on both mobile and web.</a:t>
            </a:r>
          </a:p>
          <a:p>
            <a:pPr lvl="0"/>
            <a:r>
              <a:rPr lang="en-US" sz="1600" dirty="0">
                <a:latin typeface="Times New Roman" panose="02020603050405020304" pitchFamily="18" charset="0"/>
                <a:cs typeface="Times New Roman" panose="02020603050405020304" pitchFamily="18" charset="0"/>
              </a:rPr>
              <a:t>NFR-USE-02 — Clear Feedback</a:t>
            </a:r>
            <a:br>
              <a:rPr lang="en-US" sz="1600" b="1"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Users shall receive meaningful success/error messages.</a:t>
            </a:r>
          </a:p>
          <a:p>
            <a:pPr lvl="0"/>
            <a:r>
              <a:rPr lang="en-US" sz="1600" dirty="0">
                <a:latin typeface="Times New Roman" panose="02020603050405020304" pitchFamily="18" charset="0"/>
                <a:cs typeface="Times New Roman" panose="02020603050405020304" pitchFamily="18" charset="0"/>
              </a:rPr>
              <a:t>NFR-USE-03 — Easy Onboarding</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Registration and login shall be completed within a few simple steps.</a:t>
            </a:r>
          </a:p>
          <a:p>
            <a:pPr marL="114300" indent="0">
              <a:buNone/>
            </a:pPr>
            <a:r>
              <a:rPr lang="en-US" sz="2400" b="1" dirty="0">
                <a:latin typeface="Times New Roman" panose="02020603050405020304" pitchFamily="18" charset="0"/>
                <a:cs typeface="Times New Roman" panose="02020603050405020304" pitchFamily="18" charset="0"/>
              </a:rPr>
              <a:t> Reliability Requirements</a:t>
            </a:r>
          </a:p>
          <a:p>
            <a:pPr lvl="0"/>
            <a:r>
              <a:rPr lang="en-US" sz="1600" dirty="0">
                <a:latin typeface="Times New Roman" panose="02020603050405020304" pitchFamily="18" charset="0"/>
                <a:cs typeface="Times New Roman" panose="02020603050405020304" pitchFamily="18" charset="0"/>
              </a:rPr>
              <a:t>NFR-REL-01 — High Availability</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system shall maintain </a:t>
            </a:r>
            <a:r>
              <a:rPr lang="en-US" sz="1600" b="1" dirty="0">
                <a:latin typeface="Times New Roman" panose="02020603050405020304" pitchFamily="18" charset="0"/>
                <a:cs typeface="Times New Roman" panose="02020603050405020304" pitchFamily="18" charset="0"/>
              </a:rPr>
              <a:t>99% uptime</a:t>
            </a:r>
            <a:r>
              <a:rPr lang="en-US" sz="1600" dirty="0">
                <a:latin typeface="Times New Roman" panose="02020603050405020304" pitchFamily="18" charset="0"/>
                <a:cs typeface="Times New Roman" panose="02020603050405020304" pitchFamily="18" charset="0"/>
              </a:rPr>
              <a:t>.</a:t>
            </a:r>
          </a:p>
          <a:p>
            <a:pPr lvl="0"/>
            <a:r>
              <a:rPr lang="en-US" sz="1600" dirty="0">
                <a:latin typeface="Times New Roman" panose="02020603050405020304" pitchFamily="18" charset="0"/>
                <a:cs typeface="Times New Roman" panose="02020603050405020304" pitchFamily="18" charset="0"/>
              </a:rPr>
              <a:t>NFR-REL-02 — Prevent Double Booking</a:t>
            </a:r>
            <a:br>
              <a:rPr lang="en-US" sz="1600" b="1"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system shall ensure no hotel room or vehicle can be double-booked.</a:t>
            </a:r>
          </a:p>
          <a:p>
            <a:pPr marL="0" indent="0">
              <a:buNone/>
            </a:pPr>
            <a:r>
              <a:rPr lang="en-US" sz="2400" b="1" dirty="0">
                <a:latin typeface="Times New Roman" panose="02020603050405020304" pitchFamily="18" charset="0"/>
                <a:cs typeface="Times New Roman" panose="02020603050405020304" pitchFamily="18" charset="0"/>
              </a:rPr>
              <a:t>Performance Requirements</a:t>
            </a:r>
          </a:p>
          <a:p>
            <a:pPr lvl="0"/>
            <a:r>
              <a:rPr lang="en-US" sz="1600" dirty="0">
                <a:latin typeface="Times New Roman" panose="02020603050405020304" pitchFamily="18" charset="0"/>
                <a:cs typeface="Times New Roman" panose="02020603050405020304" pitchFamily="18" charset="0"/>
              </a:rPr>
              <a:t>NFR-PERF-01 — Fast Response</a:t>
            </a:r>
            <a:br>
              <a:rPr lang="en-US" sz="1600" b="1"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Search results and main screens shall load within </a:t>
            </a:r>
            <a:r>
              <a:rPr lang="en-US" sz="1600" b="1" dirty="0">
                <a:latin typeface="Times New Roman" panose="02020603050405020304" pitchFamily="18" charset="0"/>
                <a:cs typeface="Times New Roman" panose="02020603050405020304" pitchFamily="18" charset="0"/>
              </a:rPr>
              <a:t>2–3 seconds</a:t>
            </a:r>
            <a:r>
              <a:rPr lang="en-US" sz="1600" dirty="0">
                <a:latin typeface="Times New Roman" panose="02020603050405020304" pitchFamily="18" charset="0"/>
                <a:cs typeface="Times New Roman" panose="02020603050405020304" pitchFamily="18" charset="0"/>
              </a:rPr>
              <a:t>.</a:t>
            </a:r>
          </a:p>
          <a:p>
            <a:pPr lvl="0"/>
            <a:r>
              <a:rPr lang="en-US" sz="1600" dirty="0">
                <a:latin typeface="Times New Roman" panose="02020603050405020304" pitchFamily="18" charset="0"/>
                <a:cs typeface="Times New Roman" panose="02020603050405020304" pitchFamily="18" charset="0"/>
              </a:rPr>
              <a:t>NFR-PERF-02 — Scalable User Load</a:t>
            </a:r>
            <a:br>
              <a:rPr lang="en-US" sz="1600" b="1"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system shall support </a:t>
            </a:r>
            <a:r>
              <a:rPr lang="en-US" sz="1600" b="1" dirty="0">
                <a:latin typeface="Times New Roman" panose="02020603050405020304" pitchFamily="18" charset="0"/>
                <a:cs typeface="Times New Roman" panose="02020603050405020304" pitchFamily="18" charset="0"/>
              </a:rPr>
              <a:t>large numbers of active users</a:t>
            </a:r>
            <a:r>
              <a:rPr lang="en-US" sz="1600" dirty="0">
                <a:latin typeface="Times New Roman" panose="02020603050405020304" pitchFamily="18" charset="0"/>
                <a:cs typeface="Times New Roman" panose="02020603050405020304" pitchFamily="18" charset="0"/>
              </a:rPr>
              <a:t> without performance degradation.</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tLang="en-US" dirty="0">
                <a:latin typeface="Times New Roman" panose="02020603050405020304" pitchFamily="18" charset="0"/>
                <a:cs typeface="Times New Roman" panose="02020603050405020304" pitchFamily="18" charset="0"/>
              </a:rPr>
              <a:t>User Goals</a:t>
            </a:r>
          </a:p>
        </p:txBody>
      </p:sp>
      <p:sp>
        <p:nvSpPr>
          <p:cNvPr id="3" name="Content Placeholder 2"/>
          <p:cNvSpPr>
            <a:spLocks noGrp="1"/>
          </p:cNvSpPr>
          <p:nvPr>
            <p:ph idx="1"/>
          </p:nvPr>
        </p:nvSpPr>
        <p:spPr/>
        <p:txBody>
          <a:bodyPr>
            <a:noAutofit/>
          </a:bodyPr>
          <a:lstStyle/>
          <a:p>
            <a:r>
              <a:rPr lang="en-US" sz="2400" dirty="0">
                <a:latin typeface="Times New Roman" panose="02020603050405020304" pitchFamily="18" charset="0"/>
                <a:cs typeface="Times New Roman" panose="02020603050405020304" pitchFamily="18" charset="0"/>
              </a:rPr>
              <a:t>Find a </a:t>
            </a:r>
            <a:r>
              <a:rPr lang="en-US" sz="2400" b="1" dirty="0">
                <a:latin typeface="Times New Roman" panose="02020603050405020304" pitchFamily="18" charset="0"/>
                <a:cs typeface="Times New Roman" panose="02020603050405020304" pitchFamily="18" charset="0"/>
              </a:rPr>
              <a:t>simple and centralized way</a:t>
            </a:r>
            <a:r>
              <a:rPr lang="en-US" sz="2400" dirty="0">
                <a:latin typeface="Times New Roman" panose="02020603050405020304" pitchFamily="18" charset="0"/>
                <a:cs typeface="Times New Roman" panose="02020603050405020304" pitchFamily="18" charset="0"/>
              </a:rPr>
              <a:t> to plan and manage complete trips.</a:t>
            </a:r>
          </a:p>
          <a:p>
            <a:r>
              <a:rPr lang="en-US" sz="2400" dirty="0">
                <a:latin typeface="Times New Roman" panose="02020603050405020304" pitchFamily="18" charset="0"/>
                <a:cs typeface="Times New Roman" panose="02020603050405020304" pitchFamily="18" charset="0"/>
              </a:rPr>
              <a:t>Compare </a:t>
            </a:r>
            <a:r>
              <a:rPr lang="en-US" sz="2400" b="1" dirty="0">
                <a:latin typeface="Times New Roman" panose="02020603050405020304" pitchFamily="18" charset="0"/>
                <a:cs typeface="Times New Roman" panose="02020603050405020304" pitchFamily="18" charset="0"/>
              </a:rPr>
              <a:t>multiple travel offers</a:t>
            </a:r>
            <a:r>
              <a:rPr lang="en-US" sz="2400" dirty="0">
                <a:latin typeface="Times New Roman" panose="02020603050405020304" pitchFamily="18" charset="0"/>
                <a:cs typeface="Times New Roman" panose="02020603050405020304" pitchFamily="18" charset="0"/>
              </a:rPr>
              <a:t> and choose the most suitable option.</a:t>
            </a:r>
          </a:p>
          <a:p>
            <a:r>
              <a:rPr lang="en-US" sz="2400" dirty="0">
                <a:latin typeface="Times New Roman" panose="02020603050405020304" pitchFamily="18" charset="0"/>
                <a:cs typeface="Times New Roman" panose="02020603050405020304" pitchFamily="18" charset="0"/>
              </a:rPr>
              <a:t>Access </a:t>
            </a:r>
            <a:r>
              <a:rPr lang="en-US" sz="2400" b="1" dirty="0">
                <a:latin typeface="Times New Roman" panose="02020603050405020304" pitchFamily="18" charset="0"/>
                <a:cs typeface="Times New Roman" panose="02020603050405020304" pitchFamily="18" charset="0"/>
              </a:rPr>
              <a:t>verified hotels, agencies, and transport providers</a:t>
            </a:r>
            <a:r>
              <a:rPr lang="en-US" sz="2400" dirty="0">
                <a:latin typeface="Times New Roman" panose="02020603050405020304" pitchFamily="18" charset="0"/>
                <a:cs typeface="Times New Roman" panose="02020603050405020304" pitchFamily="18" charset="0"/>
              </a:rPr>
              <a:t> with greater trust.</a:t>
            </a:r>
          </a:p>
          <a:p>
            <a:r>
              <a:rPr lang="en-US" sz="2400" dirty="0">
                <a:latin typeface="Times New Roman" panose="02020603050405020304" pitchFamily="18" charset="0"/>
                <a:cs typeface="Times New Roman" panose="02020603050405020304" pitchFamily="18" charset="0"/>
              </a:rPr>
              <a:t>Manage bookings, trip updates, and communication in </a:t>
            </a:r>
            <a:r>
              <a:rPr lang="en-US" sz="2400" b="1" dirty="0">
                <a:latin typeface="Times New Roman" panose="02020603050405020304" pitchFamily="18" charset="0"/>
                <a:cs typeface="Times New Roman" panose="02020603050405020304" pitchFamily="18" charset="0"/>
              </a:rPr>
              <a:t>one unified platform</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Save time and effort by reducing the need for </a:t>
            </a:r>
            <a:r>
              <a:rPr lang="en-US" sz="2400" b="1" dirty="0">
                <a:latin typeface="Times New Roman" panose="02020603050405020304" pitchFamily="18" charset="0"/>
                <a:cs typeface="Times New Roman" panose="02020603050405020304" pitchFamily="18" charset="0"/>
              </a:rPr>
              <a:t>manual coordination across multiple services</a:t>
            </a:r>
            <a:r>
              <a:rPr lang="en-US" sz="2400" dirty="0">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Use Cases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12</a:t>
            </a:fld>
            <a:endParaRPr lang="en-US">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64078A7-A557-860B-BC55-15AC93BD613E}"/>
              </a:ext>
            </a:extLst>
          </p:cNvPr>
          <p:cNvSpPr txBox="1"/>
          <p:nvPr/>
        </p:nvSpPr>
        <p:spPr>
          <a:xfrm>
            <a:off x="450112" y="1255505"/>
            <a:ext cx="7391400" cy="4099648"/>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Traveler Use Cases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UC-1 Register / Login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UC-2 Verification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UC-3 Hotel Search</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UC-4 Create Trip Request</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UC-5 View and Accept Bids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UC-6 View Bookings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UC-7 Join Group Trip</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UC-8 Submit Review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B46CF-3F86-51A3-E194-0DCBD57E0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1373A-1093-D12C-4DF4-585C19E3F571}"/>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Use Cases(</a:t>
            </a:r>
            <a:r>
              <a:rPr lang="en-US" dirty="0" err="1">
                <a:latin typeface="Times New Roman" panose="02020603050405020304" pitchFamily="18" charset="0"/>
                <a:cs typeface="Times New Roman" panose="02020603050405020304" pitchFamily="18" charset="0"/>
              </a:rPr>
              <a:t>cont</a:t>
            </a:r>
            <a:r>
              <a:rPr lang="en-US" dirty="0">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69030F80-606A-8912-300D-C77C21BDC6FE}"/>
              </a:ext>
            </a:extLst>
          </p:cNvPr>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13</a:t>
            </a:fld>
            <a:endParaRPr lang="en-US">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633B113-F4FF-9848-D96C-7A8EDF1810C3}"/>
              </a:ext>
            </a:extLst>
          </p:cNvPr>
          <p:cNvSpPr txBox="1"/>
          <p:nvPr/>
        </p:nvSpPr>
        <p:spPr>
          <a:xfrm>
            <a:off x="457200" y="1417638"/>
            <a:ext cx="7391400" cy="3637984"/>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Agency Use Cases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UC-9 Register Travel Agency</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UC-10 Submit Verification Documents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UC-11 Manage Hotels, Rooms, and Vehicles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UC-12 View Trip Requests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UC-13 Submit Bids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UC-14 Manage Bookings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UC-15 Create Tour Packages</a:t>
            </a:r>
          </a:p>
        </p:txBody>
      </p:sp>
    </p:spTree>
    <p:extLst>
      <p:ext uri="{BB962C8B-B14F-4D97-AF65-F5344CB8AC3E}">
        <p14:creationId xmlns:p14="http://schemas.microsoft.com/office/powerpoint/2010/main" val="2980080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A5D8D-CDF0-A01D-E6CA-F7EFC492DC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A82487-6FED-A0D6-C8A3-03813ACE8A45}"/>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Use Cases(</a:t>
            </a:r>
            <a:r>
              <a:rPr lang="en-US" dirty="0" err="1">
                <a:latin typeface="Times New Roman" panose="02020603050405020304" pitchFamily="18" charset="0"/>
                <a:cs typeface="Times New Roman" panose="02020603050405020304" pitchFamily="18" charset="0"/>
              </a:rPr>
              <a:t>cont</a:t>
            </a:r>
            <a:r>
              <a:rPr lang="en-US" dirty="0">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737B0035-54E4-A6D6-7803-A7FB85E9F72A}"/>
              </a:ext>
            </a:extLst>
          </p:cNvPr>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14</a:t>
            </a:fld>
            <a:endParaRPr lang="en-US">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ACE013E-D5F4-3472-2818-DD332EC47C76}"/>
              </a:ext>
            </a:extLst>
          </p:cNvPr>
          <p:cNvSpPr txBox="1"/>
          <p:nvPr/>
        </p:nvSpPr>
        <p:spPr>
          <a:xfrm>
            <a:off x="457200" y="1417638"/>
            <a:ext cx="7391400" cy="2714654"/>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Admin Use Cases</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UC-16 Approve/Reject Agency Registration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UC-17 Approve/Reject Hotel</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UC-18 Approve/Reject Vehicle</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UC-19 Approve Traveler Verification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UC-20 View System Analytics</a:t>
            </a:r>
          </a:p>
        </p:txBody>
      </p:sp>
    </p:spTree>
    <p:extLst>
      <p:ext uri="{BB962C8B-B14F-4D97-AF65-F5344CB8AC3E}">
        <p14:creationId xmlns:p14="http://schemas.microsoft.com/office/powerpoint/2010/main" val="2101332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141A6-4032-94FE-8930-4CF7A25D13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2CEBC-5F7D-FCCD-D06B-BC82BBB989D4}"/>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Use Cases(</a:t>
            </a:r>
            <a:r>
              <a:rPr lang="en-US" dirty="0" err="1">
                <a:latin typeface="Times New Roman" panose="02020603050405020304" pitchFamily="18" charset="0"/>
                <a:cs typeface="Times New Roman" panose="02020603050405020304" pitchFamily="18" charset="0"/>
              </a:rPr>
              <a:t>cont</a:t>
            </a:r>
            <a:r>
              <a:rPr lang="en-US" dirty="0">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C25B0565-947E-C125-693F-C020A3E4E4B9}"/>
              </a:ext>
            </a:extLst>
          </p:cNvPr>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15</a:t>
            </a:fld>
            <a:endParaRPr lang="en-US">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2EBD2EC-FDA4-C996-1F62-5869F4792D81}"/>
              </a:ext>
            </a:extLst>
          </p:cNvPr>
          <p:cNvSpPr txBox="1"/>
          <p:nvPr/>
        </p:nvSpPr>
        <p:spPr>
          <a:xfrm>
            <a:off x="457200" y="1417638"/>
            <a:ext cx="7391400" cy="1791324"/>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Hotel Use Cases</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UC-21 Register Hotel</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UC-22 Manage Rooms and Services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UC-23 View Booking Activity</a:t>
            </a:r>
          </a:p>
        </p:txBody>
      </p:sp>
    </p:spTree>
    <p:extLst>
      <p:ext uri="{BB962C8B-B14F-4D97-AF65-F5344CB8AC3E}">
        <p14:creationId xmlns:p14="http://schemas.microsoft.com/office/powerpoint/2010/main" val="3371349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Use Case Diagram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16</a:t>
            </a:fld>
            <a:endParaRPr lang="en-US">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44467AB-E2D2-D383-2FEA-934CDAD8F6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5000" y="1292192"/>
            <a:ext cx="4801994" cy="50609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36525"/>
            <a:ext cx="8229600" cy="2239962"/>
          </a:xfrm>
        </p:spPr>
        <p:txBody>
          <a:bodyPr>
            <a:normAutofit/>
          </a:bodyPr>
          <a:lstStyle/>
          <a:p>
            <a:pPr algn="l"/>
            <a:r>
              <a:rPr lang="en-US" dirty="0">
                <a:latin typeface="Times New Roman" panose="02020603050405020304" pitchFamily="18" charset="0"/>
                <a:cs typeface="Times New Roman" panose="02020603050405020304" pitchFamily="18" charset="0"/>
              </a:rPr>
              <a:t>Process flow Diagram</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Traveler flow </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17</a:t>
            </a:fld>
            <a:endParaRPr lang="en-US">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0B4C746-3E92-7028-B625-F6CE8D1E12D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44974"/>
          <a:stretch>
            <a:fillRect/>
          </a:stretch>
        </p:blipFill>
        <p:spPr bwMode="auto">
          <a:xfrm>
            <a:off x="5533390" y="538162"/>
            <a:ext cx="3153410" cy="6000750"/>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9E8CB-D634-A9FA-3D08-78E780BB10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5CAAA2-807C-F3F6-4193-4303A13EF838}"/>
              </a:ext>
            </a:extLst>
          </p:cNvPr>
          <p:cNvSpPr>
            <a:spLocks noGrp="1"/>
          </p:cNvSpPr>
          <p:nvPr>
            <p:ph type="title"/>
          </p:nvPr>
        </p:nvSpPr>
        <p:spPr>
          <a:xfrm>
            <a:off x="304800" y="142140"/>
            <a:ext cx="8229600" cy="2239962"/>
          </a:xfrm>
        </p:spPr>
        <p:txBody>
          <a:bodyPr>
            <a:normAutofit/>
          </a:bodyPr>
          <a:lstStyle/>
          <a:p>
            <a:pPr algn="l"/>
            <a:r>
              <a:rPr lang="en-US" dirty="0">
                <a:latin typeface="Times New Roman" panose="02020603050405020304" pitchFamily="18" charset="0"/>
                <a:cs typeface="Times New Roman" panose="02020603050405020304" pitchFamily="18" charset="0"/>
              </a:rPr>
              <a:t>Process Flow Diagram </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Agency Flow</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D07F3C2-DBE6-529E-3DCF-ED000FBE6388}"/>
              </a:ext>
            </a:extLst>
          </p:cNvPr>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18</a:t>
            </a:fld>
            <a:endParaRPr lang="en-US">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767ADF4-74E3-2B9C-A7F3-E463E8972D8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10792" y="452279"/>
            <a:ext cx="2759075" cy="5719921"/>
          </a:xfrm>
          <a:prstGeom prst="rect">
            <a:avLst/>
          </a:prstGeom>
        </p:spPr>
      </p:pic>
    </p:spTree>
    <p:extLst>
      <p:ext uri="{BB962C8B-B14F-4D97-AF65-F5344CB8AC3E}">
        <p14:creationId xmlns:p14="http://schemas.microsoft.com/office/powerpoint/2010/main" val="1655695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Class Diagram </a:t>
            </a:r>
          </a:p>
        </p:txBody>
      </p:sp>
      <p:sp>
        <p:nvSpPr>
          <p:cNvPr id="4" name="Slide Number Placeholder 3"/>
          <p:cNvSpPr>
            <a:spLocks noGrp="1"/>
          </p:cNvSpPr>
          <p:nvPr>
            <p:ph type="sldNum" sz="quarter" idx="12"/>
          </p:nvPr>
        </p:nvSpPr>
        <p:spPr/>
        <p:txBody>
          <a:bodyPr/>
          <a:lstStyle/>
          <a:p>
            <a:fld id="{DC2A8C5E-5ACC-4DAB-B41C-5718F8C58B6D}" type="slidenum">
              <a:rPr lang="en-US" smtClean="0"/>
              <a:t>19</a:t>
            </a:fld>
            <a:endParaRPr lang="en-US"/>
          </a:p>
        </p:txBody>
      </p:sp>
      <p:pic>
        <p:nvPicPr>
          <p:cNvPr id="6" name="Picture 5">
            <a:extLst>
              <a:ext uri="{FF2B5EF4-FFF2-40B4-BE49-F238E27FC236}">
                <a16:creationId xmlns:a16="http://schemas.microsoft.com/office/drawing/2014/main" id="{FD62C0B8-E293-52A2-1D16-1948940F2C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3064" y="1295400"/>
            <a:ext cx="7317872" cy="487383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Sequence Diagram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20</a:t>
            </a:fld>
            <a:endParaRPr lang="en-US">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A010B6B-7A7D-88FC-2B01-03B0F2EA21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4400" y="1587350"/>
            <a:ext cx="7086600" cy="4769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Activity/State Machine Diagram </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21</a:t>
            </a:fld>
            <a:endParaRPr lang="en-US">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D59ECEB-662A-68BD-2D49-C604B714B5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0" y="1278237"/>
            <a:ext cx="4389755" cy="521751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ER Diagram</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22</a:t>
            </a:fld>
            <a:endParaRPr lang="en-US">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9CC76F8-8D43-7F9B-6457-518AB4B0E1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06245" y="1319212"/>
            <a:ext cx="5731510" cy="52641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latin typeface="Times New Roman" panose="02020603050405020304" pitchFamily="18" charset="0"/>
                <a:cs typeface="Times New Roman" panose="02020603050405020304" pitchFamily="18" charset="0"/>
                <a:sym typeface="Calibri"/>
              </a:rPr>
              <a:t>Summary of Project Implementation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382000" cy="5257800"/>
          </a:xfrm>
        </p:spPr>
        <p:txBody>
          <a:bodyPr>
            <a:noAutofit/>
          </a:bodyPr>
          <a:lstStyle/>
          <a:p>
            <a:r>
              <a:rPr lang="en-US" altLang="en-US" sz="1800" b="1" dirty="0">
                <a:latin typeface="Times New Roman" panose="02020603050405020304" pitchFamily="18" charset="0"/>
                <a:cs typeface="Times New Roman" panose="02020603050405020304" pitchFamily="18" charset="0"/>
                <a:sym typeface="+mn-ea"/>
              </a:rPr>
              <a:t>Multi-role platform architecture: </a:t>
            </a:r>
            <a:r>
              <a:rPr lang="en-US" altLang="en-US" sz="1800" dirty="0" err="1">
                <a:latin typeface="Times New Roman" panose="02020603050405020304" pitchFamily="18" charset="0"/>
                <a:cs typeface="Times New Roman" panose="02020603050405020304" pitchFamily="18" charset="0"/>
                <a:sym typeface="+mn-ea"/>
              </a:rPr>
              <a:t>TrekPal</a:t>
            </a:r>
            <a:r>
              <a:rPr lang="en-US" altLang="en-US" sz="1800" dirty="0">
                <a:latin typeface="Times New Roman" panose="02020603050405020304" pitchFamily="18" charset="0"/>
                <a:cs typeface="Times New Roman" panose="02020603050405020304" pitchFamily="18" charset="0"/>
                <a:sym typeface="+mn-ea"/>
              </a:rPr>
              <a:t> is designed as a unified ecosystem with separate interfaces for travelers, travel agencies, hotels, and administrators, so each user type can perform tasks relevant to their role.</a:t>
            </a:r>
          </a:p>
          <a:p>
            <a:r>
              <a:rPr lang="en-US" altLang="en-US" sz="1800" b="1" dirty="0">
                <a:latin typeface="Times New Roman" panose="02020603050405020304" pitchFamily="18" charset="0"/>
                <a:cs typeface="Times New Roman" panose="02020603050405020304" pitchFamily="18" charset="0"/>
                <a:sym typeface="+mn-ea"/>
              </a:rPr>
              <a:t>Traveler mobile application:</a:t>
            </a:r>
            <a:r>
              <a:rPr lang="en-US" altLang="en-US" sz="1800" dirty="0">
                <a:latin typeface="Times New Roman" panose="02020603050405020304" pitchFamily="18" charset="0"/>
                <a:cs typeface="Times New Roman" panose="02020603050405020304" pitchFamily="18" charset="0"/>
                <a:sym typeface="+mn-ea"/>
              </a:rPr>
              <a:t> Travelers can register, complete verification, search hotels and packages, create trip requests, view and accept bids, manage bookings, join group trips, </a:t>
            </a:r>
          </a:p>
          <a:p>
            <a:r>
              <a:rPr lang="en-US" altLang="en-US" sz="1800" b="1" dirty="0">
                <a:latin typeface="Times New Roman" panose="02020603050405020304" pitchFamily="18" charset="0"/>
                <a:cs typeface="Times New Roman" panose="02020603050405020304" pitchFamily="18" charset="0"/>
                <a:sym typeface="+mn-ea"/>
              </a:rPr>
              <a:t>Trip request and bidding system:</a:t>
            </a:r>
            <a:r>
              <a:rPr lang="en-US" altLang="en-US" sz="1800" dirty="0">
                <a:latin typeface="Times New Roman" panose="02020603050405020304" pitchFamily="18" charset="0"/>
                <a:cs typeface="Times New Roman" panose="02020603050405020304" pitchFamily="18" charset="0"/>
                <a:sym typeface="+mn-ea"/>
              </a:rPr>
              <a:t> Instead of relying only on fixed listings, travelers can define their travel needs such as destination, dates, and budget, while agencies respond with customized offers, making the planning process more flexible and competitive.</a:t>
            </a:r>
          </a:p>
          <a:p>
            <a:r>
              <a:rPr lang="en-US" altLang="en-US" sz="1800" b="1" dirty="0">
                <a:latin typeface="Times New Roman" panose="02020603050405020304" pitchFamily="18" charset="0"/>
                <a:cs typeface="Times New Roman" panose="02020603050405020304" pitchFamily="18" charset="0"/>
                <a:sym typeface="+mn-ea"/>
              </a:rPr>
              <a:t>Agency portal management: </a:t>
            </a:r>
            <a:r>
              <a:rPr lang="en-US" altLang="en-US" sz="1800" dirty="0">
                <a:latin typeface="Times New Roman" panose="02020603050405020304" pitchFamily="18" charset="0"/>
                <a:cs typeface="Times New Roman" panose="02020603050405020304" pitchFamily="18" charset="0"/>
                <a:sym typeface="+mn-ea"/>
              </a:rPr>
              <a:t>Travel agencies can register, submit verification documents, manage hotels, rooms, transport vehicles, create travel packages, view open trip requests, submit bids, and manage accepted bookings through a dedicated web portal.</a:t>
            </a:r>
          </a:p>
          <a:p>
            <a:r>
              <a:rPr lang="en-US" altLang="en-US" sz="1800" b="1" dirty="0">
                <a:latin typeface="Times New Roman" panose="02020603050405020304" pitchFamily="18" charset="0"/>
                <a:cs typeface="Times New Roman" panose="02020603050405020304" pitchFamily="18" charset="0"/>
                <a:sym typeface="+mn-ea"/>
              </a:rPr>
              <a:t>Hotel portal management: </a:t>
            </a:r>
            <a:r>
              <a:rPr lang="en-US" altLang="en-US" sz="1800" dirty="0">
                <a:latin typeface="Times New Roman" panose="02020603050405020304" pitchFamily="18" charset="0"/>
                <a:cs typeface="Times New Roman" panose="02020603050405020304" pitchFamily="18" charset="0"/>
                <a:sym typeface="+mn-ea"/>
              </a:rPr>
              <a:t>Hotels have their own portal where they can register, manage room types, manage hotel services, and monitor booking activity related to their property.</a:t>
            </a: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23</a:t>
            </a:fld>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62121-E899-D912-B3B6-31FE2EE5F5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893A83-AA7A-1797-972B-FE10A5625921}"/>
              </a:ext>
            </a:extLst>
          </p:cNvPr>
          <p:cNvSpPr>
            <a:spLocks noGrp="1"/>
          </p:cNvSpPr>
          <p:nvPr>
            <p:ph type="title"/>
          </p:nvPr>
        </p:nvSpPr>
        <p:spPr/>
        <p:txBody>
          <a:bodyPr>
            <a:normAutofit fontScale="90000"/>
          </a:bodyPr>
          <a:lstStyle/>
          <a:p>
            <a:pPr algn="l"/>
            <a:r>
              <a:rPr lang="en-US" dirty="0">
                <a:latin typeface="Times New Roman" panose="02020603050405020304" pitchFamily="18" charset="0"/>
                <a:cs typeface="Times New Roman" panose="02020603050405020304" pitchFamily="18" charset="0"/>
                <a:sym typeface="Calibri"/>
              </a:rPr>
              <a:t>Summary of Project Implementation (cont.)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C9F76B-8F5C-99E4-C310-A80BA5EA2FB5}"/>
              </a:ext>
            </a:extLst>
          </p:cNvPr>
          <p:cNvSpPr>
            <a:spLocks noGrp="1"/>
          </p:cNvSpPr>
          <p:nvPr>
            <p:ph idx="1"/>
          </p:nvPr>
        </p:nvSpPr>
        <p:spPr>
          <a:xfrm>
            <a:off x="457200" y="1600200"/>
            <a:ext cx="8382000" cy="4983162"/>
          </a:xfrm>
        </p:spPr>
        <p:txBody>
          <a:bodyPr>
            <a:noAutofit/>
          </a:bodyPr>
          <a:lstStyle/>
          <a:p>
            <a:r>
              <a:rPr lang="en-US" sz="1800" b="1" dirty="0">
                <a:latin typeface="Times New Roman" panose="02020603050405020304" pitchFamily="18" charset="0"/>
                <a:cs typeface="Times New Roman" panose="02020603050405020304" pitchFamily="18" charset="0"/>
              </a:rPr>
              <a:t>Admin control and verification</a:t>
            </a:r>
            <a:r>
              <a:rPr lang="en-US" sz="1800" dirty="0">
                <a:latin typeface="Times New Roman" panose="02020603050405020304" pitchFamily="18" charset="0"/>
                <a:cs typeface="Times New Roman" panose="02020603050405020304" pitchFamily="18" charset="0"/>
              </a:rPr>
              <a:t>: The admin portal supports approval and rejection of agencies, hotels, vehicles, and traveler verification requests, ensuring trust, quality control, and governance across the platform.</a:t>
            </a:r>
          </a:p>
          <a:p>
            <a:r>
              <a:rPr lang="en-US" sz="1800" b="1" dirty="0">
                <a:latin typeface="Times New Roman" panose="02020603050405020304" pitchFamily="18" charset="0"/>
                <a:cs typeface="Times New Roman" panose="02020603050405020304" pitchFamily="18" charset="0"/>
              </a:rPr>
              <a:t>Booking management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TrekPal</a:t>
            </a:r>
            <a:r>
              <a:rPr lang="en-US" sz="1800" dirty="0">
                <a:latin typeface="Times New Roman" panose="02020603050405020304" pitchFamily="18" charset="0"/>
                <a:cs typeface="Times New Roman" panose="02020603050405020304" pitchFamily="18" charset="0"/>
              </a:rPr>
              <a:t> supports the creation, tracking, and updating of bookings, allowing users and service providers to monitor trip progress and service status.</a:t>
            </a:r>
          </a:p>
          <a:p>
            <a:r>
              <a:rPr lang="en-US" sz="1800" b="1" dirty="0">
                <a:latin typeface="Times New Roman" panose="02020603050405020304" pitchFamily="18" charset="0"/>
                <a:cs typeface="Times New Roman" panose="02020603050405020304" pitchFamily="18" charset="0"/>
              </a:rPr>
              <a:t>Real-time communication</a:t>
            </a:r>
            <a:r>
              <a:rPr lang="en-US" sz="1800" dirty="0">
                <a:latin typeface="Times New Roman" panose="02020603050405020304" pitchFamily="18" charset="0"/>
                <a:cs typeface="Times New Roman" panose="02020603050405020304" pitchFamily="18" charset="0"/>
              </a:rPr>
              <a:t>: The system includes live updates, which improve coordination between travelers and agencies, especially for bids, group trips, and booking-related communication.</a:t>
            </a:r>
          </a:p>
          <a:p>
            <a:r>
              <a:rPr lang="en-US" sz="1800" b="1" dirty="0">
                <a:latin typeface="Times New Roman" panose="02020603050405020304" pitchFamily="18" charset="0"/>
                <a:cs typeface="Times New Roman" panose="02020603050405020304" pitchFamily="18" charset="0"/>
              </a:rPr>
              <a:t>Inventory and package management</a:t>
            </a:r>
            <a:r>
              <a:rPr lang="en-US" sz="1800" dirty="0">
                <a:latin typeface="Times New Roman" panose="02020603050405020304" pitchFamily="18" charset="0"/>
                <a:cs typeface="Times New Roman" panose="02020603050405020304" pitchFamily="18" charset="0"/>
              </a:rPr>
              <a:t>: Hotels, rooms, vehicles, and packages are managed centrally so agencies and hotels can maintain up-to-date listings and availability.</a:t>
            </a:r>
          </a:p>
          <a:p>
            <a:r>
              <a:rPr lang="en-US" sz="1800" b="1" dirty="0">
                <a:latin typeface="Times New Roman" panose="02020603050405020304" pitchFamily="18" charset="0"/>
                <a:cs typeface="Times New Roman" panose="02020603050405020304" pitchFamily="18" charset="0"/>
              </a:rPr>
              <a:t>Secure and scalable backend</a:t>
            </a:r>
            <a:r>
              <a:rPr lang="en-US" sz="1800" dirty="0">
                <a:latin typeface="Times New Roman" panose="02020603050405020304" pitchFamily="18" charset="0"/>
                <a:cs typeface="Times New Roman" panose="02020603050405020304" pitchFamily="18" charset="0"/>
              </a:rPr>
              <a:t>: The project uses a centralized backend with authentication, role-based authorization, Prisma ORM, and </a:t>
            </a:r>
            <a:r>
              <a:rPr lang="en-US" sz="1800" dirty="0" err="1">
                <a:latin typeface="Times New Roman" panose="02020603050405020304" pitchFamily="18" charset="0"/>
                <a:cs typeface="Times New Roman" panose="02020603050405020304" pitchFamily="18" charset="0"/>
              </a:rPr>
              <a:t>Supabase</a:t>
            </a:r>
            <a:r>
              <a:rPr lang="en-US" sz="1800" dirty="0">
                <a:latin typeface="Times New Roman" panose="02020603050405020304" pitchFamily="18" charset="0"/>
                <a:cs typeface="Times New Roman" panose="02020603050405020304" pitchFamily="18" charset="0"/>
              </a:rPr>
              <a:t> PostgreSQL, making the platform structured, secure, and extensible for future </a:t>
            </a:r>
            <a:r>
              <a:rPr lang="en-US" sz="1200" dirty="0"/>
              <a:t>enhancements.</a:t>
            </a:r>
          </a:p>
        </p:txBody>
      </p:sp>
      <p:sp>
        <p:nvSpPr>
          <p:cNvPr id="4" name="Slide Number Placeholder 3">
            <a:extLst>
              <a:ext uri="{FF2B5EF4-FFF2-40B4-BE49-F238E27FC236}">
                <a16:creationId xmlns:a16="http://schemas.microsoft.com/office/drawing/2014/main" id="{BE81EDF1-98B2-8F48-ED5D-CA6D8B6AA852}"/>
              </a:ext>
            </a:extLst>
          </p:cNvPr>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24</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099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955"/>
            <a:ext cx="8229600" cy="1143000"/>
          </a:xfrm>
        </p:spPr>
        <p:txBody>
          <a:bodyPr/>
          <a:lstStyle/>
          <a:p>
            <a:pPr algn="l"/>
            <a:r>
              <a:rPr lang="en-US" dirty="0">
                <a:latin typeface="Times New Roman" panose="02020603050405020304" pitchFamily="18" charset="0"/>
                <a:cs typeface="Times New Roman" panose="02020603050405020304" pitchFamily="18" charset="0"/>
                <a:sym typeface="+mn-ea"/>
              </a:rPr>
              <a:t>Schedule </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25</a:t>
            </a:fld>
            <a:endParaRPr lang="en-US">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0336FF3-830F-66ED-B948-DA8B2712AA05}"/>
              </a:ext>
            </a:extLst>
          </p:cNvPr>
          <p:cNvPicPr>
            <a:picLocks noChangeAspect="1"/>
          </p:cNvPicPr>
          <p:nvPr/>
        </p:nvPicPr>
        <p:blipFill>
          <a:blip r:embed="rId2"/>
          <a:stretch>
            <a:fillRect/>
          </a:stretch>
        </p:blipFill>
        <p:spPr bwMode="auto">
          <a:xfrm>
            <a:off x="822138" y="1623377"/>
            <a:ext cx="7499723" cy="3611245"/>
          </a:xfrm>
          <a:prstGeom prst="rect">
            <a:avLst/>
          </a:prstGeom>
          <a:ln w="6350">
            <a:solidFill>
              <a:srgbClr val="000000"/>
            </a:solid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Details of next Iteration (100%)</a:t>
            </a:r>
          </a:p>
        </p:txBody>
      </p:sp>
      <p:sp>
        <p:nvSpPr>
          <p:cNvPr id="3" name="Content Placeholder 2"/>
          <p:cNvSpPr>
            <a:spLocks noGrp="1"/>
          </p:cNvSpPr>
          <p:nvPr>
            <p:ph idx="1"/>
          </p:nvPr>
        </p:nvSpPr>
        <p:spPr>
          <a:xfrm>
            <a:off x="457200" y="1600200"/>
            <a:ext cx="8229600" cy="4983162"/>
          </a:xfrm>
        </p:spPr>
        <p:txBody>
          <a:bodyPr>
            <a:normAutofit fontScale="95000"/>
          </a:bodyPr>
          <a:lstStyle/>
          <a:p>
            <a:pPr marL="0" indent="0">
              <a:buNone/>
            </a:pPr>
            <a:r>
              <a:rPr lang="en-US" b="1" dirty="0">
                <a:latin typeface="Times New Roman" panose="02020603050405020304" pitchFamily="18" charset="0"/>
                <a:cs typeface="Times New Roman" panose="02020603050405020304" pitchFamily="18" charset="0"/>
              </a:rPr>
              <a:t>Notification System</a:t>
            </a:r>
          </a:p>
          <a:p>
            <a:pPr marL="0" indent="0">
              <a:buNone/>
            </a:pPr>
            <a:r>
              <a:rPr lang="en-US" dirty="0">
                <a:latin typeface="Times New Roman" panose="02020603050405020304" pitchFamily="18" charset="0"/>
                <a:cs typeface="Times New Roman" panose="02020603050405020304" pitchFamily="18" charset="0"/>
              </a:rPr>
              <a:t>notifications for new bids, booking confirmations, approvals, and trip updates</a:t>
            </a:r>
          </a:p>
          <a:p>
            <a:pPr marL="0" indent="0">
              <a:buNone/>
            </a:pPr>
            <a:r>
              <a:rPr lang="en-US" dirty="0">
                <a:latin typeface="Times New Roman" panose="02020603050405020304" pitchFamily="18" charset="0"/>
                <a:cs typeface="Times New Roman" panose="02020603050405020304" pitchFamily="18" charset="0"/>
              </a:rPr>
              <a:t>In-app notification center</a:t>
            </a:r>
          </a:p>
          <a:p>
            <a:pPr marL="0" indent="0">
              <a:buNone/>
            </a:pPr>
            <a:r>
              <a:rPr lang="en-US" b="1" dirty="0">
                <a:latin typeface="Times New Roman" panose="02020603050405020304" pitchFamily="18" charset="0"/>
                <a:cs typeface="Times New Roman" panose="02020603050405020304" pitchFamily="18" charset="0"/>
              </a:rPr>
              <a:t>Advanced Search and Filtering</a:t>
            </a:r>
          </a:p>
          <a:p>
            <a:pPr marL="0" indent="0">
              <a:buNone/>
            </a:pPr>
            <a:r>
              <a:rPr lang="en-US" dirty="0">
                <a:latin typeface="Times New Roman" panose="02020603050405020304" pitchFamily="18" charset="0"/>
                <a:cs typeface="Times New Roman" panose="02020603050405020304" pitchFamily="18" charset="0"/>
              </a:rPr>
              <a:t>Hotel filtering by price, city, amenities, and rating</a:t>
            </a:r>
          </a:p>
          <a:p>
            <a:pPr marL="0" indent="0">
              <a:buNone/>
            </a:pPr>
            <a:r>
              <a:rPr lang="en-US" dirty="0">
                <a:latin typeface="Times New Roman" panose="02020603050405020304" pitchFamily="18" charset="0"/>
                <a:cs typeface="Times New Roman" panose="02020603050405020304" pitchFamily="18" charset="0"/>
              </a:rPr>
              <a:t>Vehicle filtering by type, price, and seat capacity</a:t>
            </a:r>
          </a:p>
          <a:p>
            <a:pPr marL="0" indent="0">
              <a:buNone/>
            </a:pPr>
            <a:r>
              <a:rPr lang="en-US" dirty="0">
                <a:latin typeface="Times New Roman" panose="02020603050405020304" pitchFamily="18" charset="0"/>
                <a:cs typeface="Times New Roman" panose="02020603050405020304" pitchFamily="18" charset="0"/>
              </a:rPr>
              <a:t>Package search with destination/date filters</a:t>
            </a:r>
          </a:p>
          <a:p>
            <a:endParaRPr lang="en-US" altLang="en-US"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26</a:t>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AA796-F8B3-F4AF-E7D5-5A23A69A9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3BB72B-2223-5A6F-DE52-78134ECB137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Details of next Iteration (100%)</a:t>
            </a:r>
          </a:p>
        </p:txBody>
      </p:sp>
      <p:sp>
        <p:nvSpPr>
          <p:cNvPr id="3" name="Content Placeholder 2">
            <a:extLst>
              <a:ext uri="{FF2B5EF4-FFF2-40B4-BE49-F238E27FC236}">
                <a16:creationId xmlns:a16="http://schemas.microsoft.com/office/drawing/2014/main" id="{463FF1BE-2595-1927-E51A-BD970130197F}"/>
              </a:ext>
            </a:extLst>
          </p:cNvPr>
          <p:cNvSpPr>
            <a:spLocks noGrp="1"/>
          </p:cNvSpPr>
          <p:nvPr>
            <p:ph idx="1"/>
          </p:nvPr>
        </p:nvSpPr>
        <p:spPr>
          <a:xfrm>
            <a:off x="457200" y="1600200"/>
            <a:ext cx="8229600" cy="4983162"/>
          </a:xfrm>
        </p:spPr>
        <p:txBody>
          <a:bodyPr>
            <a:normAutofit fontScale="95000"/>
          </a:bodyPr>
          <a:lstStyle/>
          <a:p>
            <a:pPr marL="0" indent="0">
              <a:buNone/>
            </a:pPr>
            <a:r>
              <a:rPr lang="en-US" b="1" dirty="0">
                <a:latin typeface="Times New Roman" panose="02020603050405020304" pitchFamily="18" charset="0"/>
                <a:cs typeface="Times New Roman" panose="02020603050405020304" pitchFamily="18" charset="0"/>
              </a:rPr>
              <a:t>Full Chat and Communication Completion</a:t>
            </a:r>
          </a:p>
          <a:p>
            <a:pPr marL="0" indent="0">
              <a:buNone/>
            </a:pPr>
            <a:r>
              <a:rPr lang="en-US" dirty="0">
                <a:latin typeface="Times New Roman" panose="02020603050405020304" pitchFamily="18" charset="0"/>
                <a:cs typeface="Times New Roman" panose="02020603050405020304" pitchFamily="18" charset="0"/>
              </a:rPr>
              <a:t>Complete chat UI/UX across all relevant platforms</a:t>
            </a:r>
          </a:p>
          <a:p>
            <a:pPr marL="0" indent="0">
              <a:buNone/>
            </a:pPr>
            <a:r>
              <a:rPr lang="en-US" dirty="0">
                <a:latin typeface="Times New Roman" panose="02020603050405020304" pitchFamily="18" charset="0"/>
                <a:cs typeface="Times New Roman" panose="02020603050405020304" pitchFamily="18" charset="0"/>
              </a:rPr>
              <a:t>Better group trip coordination tools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Booking Workflow Completion</a:t>
            </a:r>
          </a:p>
          <a:p>
            <a:pPr marL="0" indent="0">
              <a:buNone/>
            </a:pPr>
            <a:r>
              <a:rPr lang="en-US" dirty="0">
                <a:latin typeface="Times New Roman" panose="02020603050405020304" pitchFamily="18" charset="0"/>
                <a:cs typeface="Times New Roman" panose="02020603050405020304" pitchFamily="18" charset="0"/>
              </a:rPr>
              <a:t>Detailed booking management screens for all actors</a:t>
            </a:r>
          </a:p>
          <a:p>
            <a:pPr marL="0" indent="0">
              <a:buNone/>
            </a:pPr>
            <a:r>
              <a:rPr lang="en-US" dirty="0">
                <a:latin typeface="Times New Roman" panose="02020603050405020304" pitchFamily="18" charset="0"/>
                <a:cs typeface="Times New Roman" panose="02020603050405020304" pitchFamily="18" charset="0"/>
              </a:rPr>
              <a:t>Cancellation policy handling</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64968FB-58F4-60C8-46EA-ADA266D12927}"/>
              </a:ext>
            </a:extLst>
          </p:cNvPr>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27</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25666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130D3-1D55-EF59-6EBD-8E8C36DEA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93F4F-8F0F-C892-2C08-A2D2533B7F0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Details of next Iteration (100%)</a:t>
            </a:r>
          </a:p>
        </p:txBody>
      </p:sp>
      <p:sp>
        <p:nvSpPr>
          <p:cNvPr id="3" name="Content Placeholder 2">
            <a:extLst>
              <a:ext uri="{FF2B5EF4-FFF2-40B4-BE49-F238E27FC236}">
                <a16:creationId xmlns:a16="http://schemas.microsoft.com/office/drawing/2014/main" id="{4BEE90E8-CC76-1213-140F-1A85AD3FB2DA}"/>
              </a:ext>
            </a:extLst>
          </p:cNvPr>
          <p:cNvSpPr>
            <a:spLocks noGrp="1"/>
          </p:cNvSpPr>
          <p:nvPr>
            <p:ph idx="1"/>
          </p:nvPr>
        </p:nvSpPr>
        <p:spPr>
          <a:xfrm>
            <a:off x="457200" y="1600200"/>
            <a:ext cx="8229600" cy="4983162"/>
          </a:xfrm>
        </p:spPr>
        <p:txBody>
          <a:bodyPr>
            <a:normAutofit fontScale="87500"/>
          </a:bodyPr>
          <a:lstStyle/>
          <a:p>
            <a:pPr marL="0" indent="0">
              <a:buNone/>
            </a:pPr>
            <a:r>
              <a:rPr lang="en-US" b="1" dirty="0">
                <a:latin typeface="Times New Roman" panose="02020603050405020304" pitchFamily="18" charset="0"/>
                <a:cs typeface="Times New Roman" panose="02020603050405020304" pitchFamily="18" charset="0"/>
              </a:rPr>
              <a:t>Review and Complaint Management</a:t>
            </a:r>
          </a:p>
          <a:p>
            <a:pPr marL="0" indent="0">
              <a:buNone/>
            </a:pPr>
            <a:r>
              <a:rPr lang="en-US" dirty="0">
                <a:latin typeface="Times New Roman" panose="02020603050405020304" pitchFamily="18" charset="0"/>
                <a:cs typeface="Times New Roman" panose="02020603050405020304" pitchFamily="18" charset="0"/>
              </a:rPr>
              <a:t>Complaint reporting system</a:t>
            </a:r>
          </a:p>
          <a:p>
            <a:pPr marL="0" indent="0">
              <a:buNone/>
            </a:pPr>
            <a:r>
              <a:rPr lang="en-US" dirty="0">
                <a:latin typeface="Times New Roman" panose="02020603050405020304" pitchFamily="18" charset="0"/>
                <a:cs typeface="Times New Roman" panose="02020603050405020304" pitchFamily="18" charset="0"/>
              </a:rPr>
              <a:t>Admin review moderation</a:t>
            </a:r>
          </a:p>
          <a:p>
            <a:pPr marL="0" indent="0">
              <a:buNone/>
            </a:pPr>
            <a:r>
              <a:rPr lang="en-US" dirty="0">
                <a:latin typeface="Times New Roman" panose="02020603050405020304" pitchFamily="18" charset="0"/>
                <a:cs typeface="Times New Roman" panose="02020603050405020304" pitchFamily="18" charset="0"/>
              </a:rPr>
              <a:t>Dispute resolution workflow</a:t>
            </a:r>
          </a:p>
          <a:p>
            <a:pPr marL="0" indent="0">
              <a:buNone/>
            </a:pPr>
            <a:r>
              <a:rPr lang="en-US" b="1" dirty="0">
                <a:latin typeface="Times New Roman" panose="02020603050405020304" pitchFamily="18" charset="0"/>
                <a:cs typeface="Times New Roman" panose="02020603050405020304" pitchFamily="18" charset="0"/>
              </a:rPr>
              <a:t>Deployment and Production Hardening</a:t>
            </a:r>
          </a:p>
          <a:p>
            <a:pPr marL="0" indent="0">
              <a:buNone/>
            </a:pPr>
            <a:r>
              <a:rPr lang="en-US" dirty="0">
                <a:latin typeface="Times New Roman" panose="02020603050405020304" pitchFamily="18" charset="0"/>
                <a:cs typeface="Times New Roman" panose="02020603050405020304" pitchFamily="18" charset="0"/>
              </a:rPr>
              <a:t>Move file storage from local uploads to cloud storage</a:t>
            </a:r>
          </a:p>
          <a:p>
            <a:pPr marL="0" indent="0">
              <a:buNone/>
            </a:pPr>
            <a:r>
              <a:rPr lang="en-US" dirty="0">
                <a:latin typeface="Times New Roman" panose="02020603050405020304" pitchFamily="18" charset="0"/>
                <a:cs typeface="Times New Roman" panose="02020603050405020304" pitchFamily="18" charset="0"/>
              </a:rPr>
              <a:t>Better security hardening</a:t>
            </a:r>
          </a:p>
          <a:p>
            <a:pPr marL="0" indent="0">
              <a:buNone/>
            </a:pPr>
            <a:r>
              <a:rPr lang="en-US" dirty="0">
                <a:latin typeface="Times New Roman" panose="02020603050405020304" pitchFamily="18" charset="0"/>
                <a:cs typeface="Times New Roman" panose="02020603050405020304" pitchFamily="18" charset="0"/>
              </a:rPr>
              <a:t>Full testing, validation, and performance optimization</a:t>
            </a:r>
          </a:p>
          <a:p>
            <a:pPr marL="0" indent="0">
              <a:buNone/>
            </a:pPr>
            <a:r>
              <a:rPr lang="en-US" dirty="0">
                <a:latin typeface="Times New Roman" panose="02020603050405020304" pitchFamily="18" charset="0"/>
                <a:cs typeface="Times New Roman" panose="02020603050405020304" pitchFamily="18" charset="0"/>
              </a:rPr>
              <a:t>CI/CD and backup/recovery readiness</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6A581AA-1D70-003A-4309-DB0E109886DA}"/>
              </a:ext>
            </a:extLst>
          </p:cNvPr>
          <p:cNvSpPr>
            <a:spLocks noGrp="1"/>
          </p:cNvSpPr>
          <p:nvPr>
            <p:ph type="sldNum" sz="quarter" idx="12"/>
          </p:nvPr>
        </p:nvSpPr>
        <p:spPr/>
        <p:txBody>
          <a:bodyPr/>
          <a:lstStyle/>
          <a:p>
            <a:fld id="{DC2A8C5E-5ACC-4DAB-B41C-5718F8C58B6D}" type="slidenum">
              <a:rPr lang="en-US" smtClean="0">
                <a:latin typeface="Times New Roman" panose="02020603050405020304" pitchFamily="18" charset="0"/>
                <a:cs typeface="Times New Roman" panose="02020603050405020304" pitchFamily="18" charset="0"/>
              </a:rPr>
              <a:t>28</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3253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539</TotalTime>
  <Words>1670</Words>
  <Application>Microsoft Office PowerPoint</Application>
  <PresentationFormat>On-screen Show (4:3)</PresentationFormat>
  <Paragraphs>221</Paragraphs>
  <Slides>28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Times New Roman</vt:lpstr>
      <vt:lpstr>Office Theme</vt:lpstr>
      <vt:lpstr>Project Title: TrekPal</vt:lpstr>
      <vt:lpstr>Agenda of the Presentation</vt:lpstr>
      <vt:lpstr>Brief Introduction</vt:lpstr>
      <vt:lpstr>Scope</vt:lpstr>
      <vt:lpstr>Scope(cont)</vt:lpstr>
      <vt:lpstr>Functional Requirements</vt:lpstr>
      <vt:lpstr>Functional Requirements(Cont.)</vt:lpstr>
      <vt:lpstr>Functional Requirements(Cont.)</vt:lpstr>
      <vt:lpstr>Functional Requirements(Cont.)</vt:lpstr>
      <vt:lpstr>Non-Functional Requirements</vt:lpstr>
      <vt:lpstr>User Goals</vt:lpstr>
      <vt:lpstr>Use Cases </vt:lpstr>
      <vt:lpstr>Use Cases(cont) </vt:lpstr>
      <vt:lpstr>Use Cases(cont) </vt:lpstr>
      <vt:lpstr>Use Cases(cont) </vt:lpstr>
      <vt:lpstr>Use Case Diagram </vt:lpstr>
      <vt:lpstr>Process flow Diagram  Traveler flow </vt:lpstr>
      <vt:lpstr>Process Flow Diagram   Agency Flow</vt:lpstr>
      <vt:lpstr>Class Diagram </vt:lpstr>
      <vt:lpstr>Sequence Diagram </vt:lpstr>
      <vt:lpstr>Activity/State Machine Diagram </vt:lpstr>
      <vt:lpstr>ER Diagram</vt:lpstr>
      <vt:lpstr>Summary of Project Implementation</vt:lpstr>
      <vt:lpstr>Summary of Project Implementation (cont.)</vt:lpstr>
      <vt:lpstr>Schedule </vt:lpstr>
      <vt:lpstr>Details of next Iteration (100%)</vt:lpstr>
      <vt:lpstr>Details of next Iteration (100%)</vt:lpstr>
      <vt:lpstr>Details of next Iteration (100%)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USER</dc:creator>
  <cp:lastModifiedBy>Abuzar Khan</cp:lastModifiedBy>
  <cp:revision>133</cp:revision>
  <dcterms:created xsi:type="dcterms:W3CDTF">2013-09-23T09:08:00Z</dcterms:created>
  <dcterms:modified xsi:type="dcterms:W3CDTF">2026-05-03T17:28:25Z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085EEEFC757E43DD9AB9708F4290A311_13</vt:lpwstr>
  </property>
  <property fmtid="{D5CDD505-2E9C-101B-9397-08002B2CF9AE}" pid="3" name="KSOProductBuildVer">
    <vt:lpwstr>1033-12.2.0.21546</vt:lpwstr>
  </property>
</Properties>
</file>