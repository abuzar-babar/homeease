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7" r:id="rId3"/>
    <p:sldId id="259" r:id="rId4"/>
    <p:sldId id="260" r:id="rId5"/>
    <p:sldId id="288" r:id="rId6"/>
    <p:sldId id="261" r:id="rId7"/>
    <p:sldId id="281" r:id="rId8"/>
    <p:sldId id="282" r:id="rId9"/>
    <p:sldId id="284" r:id="rId10"/>
    <p:sldId id="263" r:id="rId11"/>
    <p:sldId id="264" r:id="rId12"/>
    <p:sldId id="265" r:id="rId13"/>
    <p:sldId id="289" r:id="rId14"/>
    <p:sldId id="290" r:id="rId15"/>
    <p:sldId id="291" r:id="rId16"/>
    <p:sldId id="266" r:id="rId17"/>
    <p:sldId id="275" r:id="rId18"/>
    <p:sldId id="292" r:id="rId19"/>
    <p:sldId id="267" r:id="rId20"/>
    <p:sldId id="271" r:id="rId21"/>
    <p:sldId id="273" r:id="rId22"/>
    <p:sldId id="274" r:id="rId23"/>
    <p:sldId id="270" r:id="rId24"/>
    <p:sldId id="286" r:id="rId25"/>
    <p:sldId id="280" r:id="rId26"/>
    <p:sldId id="278" r:id="rId27"/>
    <p:sldId id="287" r:id="rId28"/>
    <p:sldId id="293"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60"/>
  </p:normalViewPr>
  <p:slideViewPr>
    <p:cSldViewPr showGuides="1">
      <p:cViewPr>
        <p:scale>
          <a:sx n="66" d="100"/>
          <a:sy n="66" d="100"/>
        </p:scale>
        <p:origin x="1280" y="-2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2B86B37-9E7C-4699-A89E-72EE4B291650}" type="datetimeFigureOut">
              <a:rPr lang="en-US" smtClean="0"/>
              <a:t>5/3/2026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EFE787-E5F2-40C5-9D43-E7EAF8E51FDF}"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EFE787-E5F2-40C5-9D43-E7EAF8E51FDF}" type="slidenum">
              <a:rPr lang="en-US" smtClean="0"/>
              <a:t>4</a:t>
            </a:fld>
            <a:endParaRPr lang="en-US"/>
          </a:p>
        </p:txBody>
      </p:sp>
    </p:spTree>
    <p:extLst>
      <p:ext uri="{BB962C8B-B14F-4D97-AF65-F5344CB8AC3E}">
        <p14:creationId xmlns:p14="http://schemas.microsoft.com/office/powerpoint/2010/main" val="1158590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DE83A-BD7E-FDA3-74EC-941A3AF329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7D3A4-F2A8-3273-CA4D-2D24165766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B040A-B04E-C61A-0599-2BAB6F8C1E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23B2A2-09F6-313B-C02F-EC2E90FCD160}"/>
              </a:ext>
            </a:extLst>
          </p:cNvPr>
          <p:cNvSpPr>
            <a:spLocks noGrp="1"/>
          </p:cNvSpPr>
          <p:nvPr>
            <p:ph type="sldNum" sz="quarter" idx="5"/>
          </p:nvPr>
        </p:nvSpPr>
        <p:spPr/>
        <p:txBody>
          <a:bodyPr/>
          <a:lstStyle/>
          <a:p>
            <a:fld id="{75EFE787-E5F2-40C5-9D43-E7EAF8E51FDF}" type="slidenum">
              <a:rPr lang="en-US" smtClean="0"/>
              <a:t>5</a:t>
            </a:fld>
            <a:endParaRPr lang="en-US"/>
          </a:p>
        </p:txBody>
      </p:sp>
    </p:spTree>
    <p:extLst>
      <p:ext uri="{BB962C8B-B14F-4D97-AF65-F5344CB8AC3E}">
        <p14:creationId xmlns:p14="http://schemas.microsoft.com/office/powerpoint/2010/main" val="1999892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EFE787-E5F2-40C5-9D43-E7EAF8E51FDF}" type="slidenum">
              <a:rPr lang="en-US" smtClean="0"/>
              <a:t>9</a:t>
            </a:fld>
            <a:endParaRPr lang="en-US"/>
          </a:p>
        </p:txBody>
      </p:sp>
    </p:spTree>
    <p:extLst>
      <p:ext uri="{BB962C8B-B14F-4D97-AF65-F5344CB8AC3E}">
        <p14:creationId xmlns:p14="http://schemas.microsoft.com/office/powerpoint/2010/main" val="1126353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E7D89F-69BA-45D8-85C1-789124DFB921}" type="datetime1">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F83749-7540-4838-B5FB-EDC40CB84DB0}" type="datetime1">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1A8085-18D1-4091-8AD3-81F140965EFC}" type="datetime1">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ACD35F7-97F8-4D2E-B83D-158766068E0A}" type="datetime1">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03EFADE-B1F7-484F-89D9-3E148D53B52B}" type="datetime1">
              <a:rPr lang="en-US" smtClean="0"/>
              <a:t>5/3/2026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09F378E-9541-4F7D-BD6F-302448FBBB81}" type="datetime1">
              <a:rPr lang="en-US" smtClean="0"/>
              <a:t>5/3/2026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26370F-658E-452B-A4D5-DB4240E0AF51}" type="datetime1">
              <a:rPr lang="en-US" smtClean="0"/>
              <a:t>5/3/2026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18E6F0-0C4F-4052-A284-495110A822E2}" type="datetime1">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4C22A7-5E39-4CEE-A6B3-52DA5303DD53}" type="datetime1">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641830-9FBF-4C58-837A-230882702FD4}" type="datetime1">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1B8442-52C5-4632-BA82-04F7AD4C9B34}" type="datetime1">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8188C4-8F03-4988-A683-AFCBDCFC6ED7}" type="datetime1">
              <a:rPr lang="en-US" smtClean="0"/>
              <a:t>5/3/2026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2A8C5E-5ACC-4DAB-B41C-5718F8C58B6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Autofit/>
          </a:bodyPr>
          <a:lstStyle/>
          <a:p>
            <a:r>
              <a:rPr sz="4000" b="1">
                <a:latin typeface="Times New Roman"/>
              </a:rPr>
              <a:t>Project Title:</a:t>
            </a:r>
          </a:p>
          <a:p>
            <a:r>
              <a:rPr sz="4000" b="1">
                <a:latin typeface="Times New Roman"/>
              </a:rPr>
              <a:t>HomeEase</a:t>
            </a:r>
          </a:p>
        </p:txBody>
      </p:sp>
      <p:sp>
        <p:nvSpPr>
          <p:cNvPr id="3" name="Subtitle 2"/>
          <p:cNvSpPr>
            <a:spLocks noGrp="1"/>
          </p:cNvSpPr>
          <p:nvPr>
            <p:ph type="subTitle" idx="1"/>
          </p:nvPr>
        </p:nvSpPr>
        <p:spPr>
          <a:xfrm>
            <a:off x="1371600" y="3886200"/>
            <a:ext cx="6400800" cy="2743200"/>
          </a:xfrm>
        </p:spPr>
        <p:txBody>
          <a:bodyPr>
            <a:noAutofit/>
          </a:bodyPr>
          <a:lstStyle/>
          <a:p>
            <a:r>
              <a:rPr sz="1600" b="1">
                <a:latin typeface="Times New Roman"/>
              </a:rPr>
              <a:t>Group Members:</a:t>
            </a:r>
          </a:p>
          <a:p>
            <a:r>
              <a:rPr sz="1400">
                <a:latin typeface="Times New Roman"/>
              </a:rPr>
              <a:t>Hashir Hamid			(CIIT/FA22-BSE-139/ATD)</a:t>
            </a:r>
          </a:p>
          <a:p>
            <a:r>
              <a:rPr sz="1400">
                <a:latin typeface="Times New Roman"/>
              </a:rPr>
              <a:t>Aman Ullah Khan			(CIIT/FA22-BSE-074/ATD)</a:t>
            </a:r>
          </a:p>
          <a:p>
            <a:r>
              <a:rPr sz="1400">
                <a:latin typeface="Times New Roman"/>
              </a:rPr>
              <a:t>Umar Saeed			(CIIT/FA22-BCS-041/ATD)</a:t>
            </a:r>
          </a:p>
          <a:p/>
          <a:p>
            <a:r>
              <a:rPr sz="1600" b="1">
                <a:latin typeface="Times New Roman"/>
              </a:rPr>
              <a:t>Supervisor-name: </a:t>
            </a:r>
          </a:p>
          <a:p>
            <a:r>
              <a:rPr sz="1500">
                <a:latin typeface="Times New Roman"/>
              </a:rPr>
              <a:t>Sir Sumair Khan</a:t>
            </a:r>
          </a:p>
        </p:txBody>
      </p:sp>
      <p:sp>
        <p:nvSpPr>
          <p:cNvPr id="4" name="Slide Number Placeholder 3"/>
          <p:cNvSpPr>
            <a:spLocks noGrp="1"/>
          </p:cNvSpPr>
          <p:nvPr>
            <p:ph type="sldNum" sz="quarter" idx="12"/>
          </p:nvPr>
        </p:nvSpPr>
        <p:spPr/>
        <p:txBody>
          <a:bodyPr/>
          <a:lstStyle/>
          <a:p>
            <a:r>
              <a:rPr sz="1200">
                <a:latin typeface="Times New Roman"/>
              </a:rPr>
              <a:t>1</a:t>
            </a:r>
          </a:p>
        </p:txBody>
      </p:sp>
      <p:sp>
        <p:nvSpPr>
          <p:cNvPr id="6" name="Subtitle 2"/>
          <p:cNvSpPr txBox="1"/>
          <p:nvPr/>
        </p:nvSpPr>
        <p:spPr>
          <a:xfrm>
            <a:off x="1371600" y="457200"/>
            <a:ext cx="6400800" cy="990600"/>
          </a:xfrm>
          <a:prstGeom prst="rect">
            <a:avLst/>
          </a:prstGeom>
        </p:spPr>
        <p:txBody>
          <a:bodyPr vert="horz" lIns="91440" tIns="45720" rIns="91440" bIns="45720" rtlCol="0">
            <a:normAutofit/>
          </a:bodyPr>
          <a:lstStyle/>
          <a:p>
            <a:r>
              <a:rPr sz="2000" b="1">
                <a:latin typeface="Times New Roman"/>
              </a:rPr>
              <a:t>Department of Computer Science</a:t>
            </a:r>
          </a:p>
          <a:p>
            <a:r>
              <a:rPr sz="1600">
                <a:latin typeface="Times New Roman"/>
              </a:rPr>
              <a:t>COMSATS University Islamabad, Abbottabad Campus</a:t>
            </a:r>
          </a:p>
        </p:txBody>
      </p:sp>
      <p:pic>
        <p:nvPicPr>
          <p:cNvPr id="7" name="Picture 6" descr="cui_logo.jpeg"/>
          <p:cNvPicPr>
            <a:picLocks noChangeAspect="1"/>
          </p:cNvPicPr>
          <p:nvPr/>
        </p:nvPicPr>
        <p:blipFill>
          <a:blip r:embed="rId3"/>
          <a:stretch>
            <a:fillRect/>
          </a:stretch>
        </p:blipFill>
        <p:spPr>
          <a:xfrm>
            <a:off x="152473" y="451485"/>
            <a:ext cx="996315" cy="9963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latin typeface="Times New Roman"/>
              </a:rPr>
              <a:t>Agenda of the Presentation</a:t>
            </a:r>
          </a:p>
        </p:txBody>
      </p:sp>
      <p:sp>
        <p:nvSpPr>
          <p:cNvPr id="3" name="Content Placeholder 2"/>
          <p:cNvSpPr>
            <a:spLocks noGrp="1"/>
          </p:cNvSpPr>
          <p:nvPr>
            <p:ph idx="1"/>
          </p:nvPr>
        </p:nvSpPr>
        <p:spPr>
          <a:xfrm>
            <a:off x="457200" y="1418590"/>
            <a:ext cx="8229600" cy="5370195"/>
          </a:xfrm>
        </p:spPr>
        <p:txBody>
          <a:bodyPr>
            <a:noAutofit/>
          </a:bodyPr>
          <a:lstStyle/>
          <a:p>
            <a:r>
              <a:rPr sz="1500">
                <a:latin typeface="Times New Roman"/>
              </a:rPr>
              <a:t>Brief Introduction</a:t>
            </a:r>
          </a:p>
          <a:p>
            <a:r>
              <a:rPr sz="1500">
                <a:latin typeface="Times New Roman"/>
              </a:rPr>
              <a:t>Scope</a:t>
            </a:r>
          </a:p>
          <a:p>
            <a:r>
              <a:rPr sz="1500">
                <a:latin typeface="Times New Roman"/>
              </a:rPr>
              <a:t>Functional Requirements</a:t>
            </a:r>
          </a:p>
          <a:p>
            <a:r>
              <a:rPr sz="1500">
                <a:latin typeface="Times New Roman"/>
              </a:rPr>
              <a:t>Non-Functional Requirements</a:t>
            </a:r>
          </a:p>
          <a:p>
            <a:r>
              <a:rPr sz="1500">
                <a:latin typeface="Times New Roman"/>
              </a:rPr>
              <a:t>User Goals</a:t>
            </a:r>
          </a:p>
          <a:p>
            <a:r>
              <a:rPr sz="1500">
                <a:latin typeface="Times New Roman"/>
              </a:rPr>
              <a:t>Use Cases</a:t>
            </a:r>
          </a:p>
          <a:p>
            <a:r>
              <a:rPr sz="1500">
                <a:latin typeface="Times New Roman"/>
              </a:rPr>
              <a:t>Use Case Diagram</a:t>
            </a:r>
          </a:p>
          <a:p>
            <a:r>
              <a:rPr sz="1500">
                <a:latin typeface="Times New Roman"/>
              </a:rPr>
              <a:t>Architecture Diagram</a:t>
            </a:r>
          </a:p>
          <a:p>
            <a:r>
              <a:rPr sz="1500">
                <a:latin typeface="Times New Roman"/>
              </a:rPr>
              <a:t>Process Flow Diagram</a:t>
            </a:r>
          </a:p>
          <a:p>
            <a:r>
              <a:rPr sz="1500">
                <a:latin typeface="Times New Roman"/>
              </a:rPr>
              <a:t>Class Diagram</a:t>
            </a:r>
          </a:p>
          <a:p>
            <a:r>
              <a:rPr sz="1500">
                <a:latin typeface="Times New Roman"/>
              </a:rPr>
              <a:t>Sequence Diagram</a:t>
            </a:r>
          </a:p>
          <a:p>
            <a:r>
              <a:rPr sz="1500">
                <a:latin typeface="Times New Roman"/>
              </a:rPr>
              <a:t>Activity/State Machine Diagram</a:t>
            </a:r>
          </a:p>
          <a:p>
            <a:r>
              <a:rPr sz="1500">
                <a:latin typeface="Times New Roman"/>
              </a:rPr>
              <a:t>ER Diagram</a:t>
            </a:r>
          </a:p>
          <a:p>
            <a:r>
              <a:rPr sz="1500">
                <a:latin typeface="Times New Roman"/>
              </a:rPr>
              <a:t>Summary of Project Implementation (60% Milestone)</a:t>
            </a:r>
          </a:p>
          <a:p>
            <a:r>
              <a:rPr sz="1500">
                <a:latin typeface="Times New Roman"/>
              </a:rPr>
              <a:t>Schedule (Gantt Chart)</a:t>
            </a:r>
          </a:p>
          <a:p>
            <a:r>
              <a:rPr sz="1500">
                <a:latin typeface="Times New Roman"/>
              </a:rPr>
              <a:t>Details of Next Iteration (100% Roadmap)</a:t>
            </a:r>
          </a:p>
          <a:p>
            <a:r>
              <a:rPr sz="1500">
                <a:latin typeface="Times New Roman"/>
              </a:rPr>
              <a:t>Conclusion</a:t>
            </a:r>
          </a:p>
        </p:txBody>
      </p:sp>
      <p:sp>
        <p:nvSpPr>
          <p:cNvPr id="4" name="Slide Number Placeholder 3"/>
          <p:cNvSpPr>
            <a:spLocks noGrp="1"/>
          </p:cNvSpPr>
          <p:nvPr>
            <p:ph type="sldNum" sz="quarter" idx="12"/>
          </p:nvPr>
        </p:nvSpPr>
        <p:spPr/>
        <p:txBody>
          <a:bodyPr/>
          <a:lstStyle/>
          <a:p>
            <a:r>
              <a:rPr sz="1200">
                <a:latin typeface="Times New Roman"/>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2390"/>
          </a:xfrm>
        </p:spPr>
        <p:txBody>
          <a:bodyPr/>
          <a:lstStyle/>
          <a:p>
            <a:r>
              <a:rPr sz="3600">
                <a:latin typeface="Times New Roman"/>
              </a:rPr>
              <a:t>Brief Introduction</a:t>
            </a:r>
          </a:p>
        </p:txBody>
      </p:sp>
      <p:sp>
        <p:nvSpPr>
          <p:cNvPr id="4" name="Slide Number Placeholder 3"/>
          <p:cNvSpPr>
            <a:spLocks noGrp="1"/>
          </p:cNvSpPr>
          <p:nvPr>
            <p:ph type="sldNum" sz="quarter" idx="12"/>
          </p:nvPr>
        </p:nvSpPr>
        <p:spPr/>
        <p:txBody>
          <a:bodyPr/>
          <a:lstStyle/>
          <a:p>
            <a:r>
              <a:rPr sz="1200">
                <a:latin typeface="Times New Roman"/>
              </a:rPr>
              <a:t>3</a:t>
            </a:r>
          </a:p>
        </p:txBody>
      </p:sp>
      <p:sp>
        <p:nvSpPr>
          <p:cNvPr id="8" name="Rectangle 2">
            <a:extLst>
              <a:ext uri="{FF2B5EF4-FFF2-40B4-BE49-F238E27FC236}">
                <a16:creationId xmlns:a16="http://schemas.microsoft.com/office/drawing/2014/main" id="{87FA25EA-B256-B6AD-3A71-88BB207ACC6B}"/>
              </a:ext>
            </a:extLst>
          </p:cNvPr>
          <p:cNvSpPr>
            <a:spLocks noGrp="1" noChangeArrowheads="1"/>
          </p:cNvSpPr>
          <p:nvPr>
            <p:ph idx="1"/>
          </p:nvPr>
        </p:nvSpPr>
        <p:spPr bwMode="auto">
          <a:xfrm>
            <a:off x="152400" y="1047028"/>
            <a:ext cx="86106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sz="1500" b="1">
                <a:latin typeface="Times New Roman"/>
              </a:rPr>
              <a:t>HomeEase</a:t>
            </a:r>
            <a:r>
              <a:rPr sz="1500">
                <a:latin typeface="Times New Roman"/>
              </a:rPr>
              <a:t> is an enterprise-grade, hyper-local domestic worker connect platform and marketplace engineered to formalize, organize, and secure the informal home services sector in Pakistan (piloted in Abbottabad).</a:t>
            </a:r>
          </a:p>
          <a:p>
            <a:r>
              <a:rPr sz="1500">
                <a:latin typeface="Times New Roman"/>
              </a:rPr>
              <a:t>The platform bridges the deep trust deficit between urban households needing domestic help (cooks, cleaners, maids, child nannies, elderly caregivers) and informal workers seeking reliable employment, fair wages, and reputation portability.</a:t>
            </a:r>
          </a:p>
          <a:p>
            <a:r>
              <a:rPr sz="1500">
                <a:latin typeface="Times New Roman"/>
              </a:rPr>
              <a:t>It addresses the critical challenges of informal hiring, such as absence of background checks, safety vulnerabilities, arbitrary wages, and unpredictable worker absenteeism.</a:t>
            </a:r>
          </a:p>
          <a:p>
            <a:r>
              <a:rPr sz="1500" b="1">
                <a:latin typeface="Times New Roman"/>
              </a:rPr>
              <a:t>A key innovation of HomeEase is its </a:t>
            </a:r>
            <a:r>
              <a:rPr sz="1500">
                <a:latin typeface="Times New Roman"/>
              </a:rPr>
              <a:t>Content-Based AI Recommender Engine with Explainable AI (XAI) transparent match badges combining Cosine Similarity on skill vectors, Haversine geospatial proximity decay, and min-max rating normalization.</a:t>
            </a:r>
          </a:p>
          <a:p>
            <a:r>
              <a:rPr sz="1500" b="1">
                <a:latin typeface="Times New Roman"/>
              </a:rPr>
              <a:t>The platform introduces a </a:t>
            </a:r>
            <a:r>
              <a:rPr sz="1500">
                <a:latin typeface="Times New Roman"/>
              </a:rPr>
              <a:t>Bidirectional Job Marketplace allowing households to publish open gigs and domestic workers to actively browse and apply for local neighbourhood opportunities.</a:t>
            </a:r>
          </a:p>
          <a:p>
            <a:r>
              <a:rPr sz="1500" b="1">
                <a:latin typeface="Times New Roman"/>
              </a:rPr>
              <a:t>The system comprises a </a:t>
            </a:r>
            <a:r>
              <a:rPr sz="1500">
                <a:latin typeface="Times New Roman"/>
              </a:rPr>
              <a:t>Flutter mobile app, Supabase PostgreSQL backend with Row Level Security (RLS), and native bilingual English/Urdu (اردو) localization with low-literacy pictorial affordances.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3149" y="143613"/>
            <a:ext cx="8229600" cy="1143000"/>
          </a:xfrm>
        </p:spPr>
        <p:txBody>
          <a:bodyPr/>
          <a:lstStyle/>
          <a:p>
            <a:r>
              <a:rPr sz="3600">
                <a:latin typeface="Times New Roman"/>
              </a:rPr>
              <a:t>Scope</a:t>
            </a:r>
          </a:p>
        </p:txBody>
      </p:sp>
      <p:sp>
        <p:nvSpPr>
          <p:cNvPr id="4" name="Slide Number Placeholder 3"/>
          <p:cNvSpPr>
            <a:spLocks noGrp="1"/>
          </p:cNvSpPr>
          <p:nvPr>
            <p:ph type="sldNum" sz="quarter" idx="12"/>
          </p:nvPr>
        </p:nvSpPr>
        <p:spPr/>
        <p:txBody>
          <a:bodyPr/>
          <a:lstStyle/>
          <a:p>
            <a:r>
              <a:rPr sz="1200">
                <a:latin typeface="Times New Roman"/>
              </a:rPr>
              <a:t>4</a:t>
            </a:r>
          </a:p>
        </p:txBody>
      </p:sp>
      <p:sp>
        <p:nvSpPr>
          <p:cNvPr id="14" name="Rectangle 7">
            <a:extLst>
              <a:ext uri="{FF2B5EF4-FFF2-40B4-BE49-F238E27FC236}">
                <a16:creationId xmlns:a16="http://schemas.microsoft.com/office/drawing/2014/main" id="{8A3C522D-2A64-3BD2-A8D7-B38A202E7525}"/>
              </a:ext>
            </a:extLst>
          </p:cNvPr>
          <p:cNvSpPr>
            <a:spLocks noGrp="1" noChangeArrowheads="1"/>
          </p:cNvSpPr>
          <p:nvPr>
            <p:ph idx="1"/>
          </p:nvPr>
        </p:nvSpPr>
        <p:spPr bwMode="auto">
          <a:xfrm>
            <a:off x="342900" y="1066800"/>
            <a:ext cx="8458200" cy="621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sz="1600">
                <a:latin typeface="Times New Roman"/>
              </a:rPr>
              <a:t>Provide a cross-platform Flutter mobile application for households to discover verified domestic workers, inspect XAI match scores, create direct bookings, and post open gigs.</a:t>
            </a:r>
          </a:p>
          <a:p>
            <a:r>
              <a:rPr sz="1600">
                <a:latin typeface="Times New Roman"/>
              </a:rPr>
              <a:t>Provide a dedicated worker mobile interface with high-contrast pictorial icons, Urdu voice/text affordances, availability schedule management, and neighborhood gig feeds.</a:t>
            </a:r>
          </a:p>
          <a:p>
            <a:r>
              <a:rPr sz="1600">
                <a:latin typeface="Times New Roman"/>
              </a:rPr>
              <a:t>Implement an authentic Content-Based AI Recommender System matching household chore requirements to worker trade skill vectors and Abbottabad geospatial coordinates.</a:t>
            </a:r>
          </a:p>
          <a:p>
            <a:r>
              <a:rPr sz="1600">
                <a:latin typeface="Times New Roman"/>
              </a:rPr>
              <a:t>Deliver a Bidirectional Job Marketplace empowering domestic workers to proactively browse and apply to open gigs posted by nearby households.</a:t>
            </a:r>
          </a:p>
          <a:p>
            <a:r>
              <a:rPr sz="1600">
                <a:latin typeface="Times New Roman"/>
              </a:rPr>
              <a:t>Auto-generate formal digital service agreements and provide transparent manual payment logging (Cash, JazzCash, EasyPaisa) with audit trails.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3A672-8776-AF51-28C1-37B6C0D335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3E360B-61D3-F08D-5B6E-F9002643F486}"/>
              </a:ext>
            </a:extLst>
          </p:cNvPr>
          <p:cNvSpPr>
            <a:spLocks noGrp="1"/>
          </p:cNvSpPr>
          <p:nvPr>
            <p:ph type="title"/>
          </p:nvPr>
        </p:nvSpPr>
        <p:spPr/>
        <p:txBody>
          <a:bodyPr/>
          <a:lstStyle/>
          <a:p>
            <a:r>
              <a:rPr sz="3600">
                <a:latin typeface="Times New Roman"/>
              </a:rPr>
              <a:t>Scope(cont)</a:t>
            </a:r>
          </a:p>
        </p:txBody>
      </p:sp>
      <p:sp>
        <p:nvSpPr>
          <p:cNvPr id="4" name="Slide Number Placeholder 3">
            <a:extLst>
              <a:ext uri="{FF2B5EF4-FFF2-40B4-BE49-F238E27FC236}">
                <a16:creationId xmlns:a16="http://schemas.microsoft.com/office/drawing/2014/main" id="{39F513BB-FDB3-7B09-1739-68E2403B25B2}"/>
              </a:ext>
            </a:extLst>
          </p:cNvPr>
          <p:cNvSpPr>
            <a:spLocks noGrp="1"/>
          </p:cNvSpPr>
          <p:nvPr>
            <p:ph type="sldNum" sz="quarter" idx="12"/>
          </p:nvPr>
        </p:nvSpPr>
        <p:spPr/>
        <p:txBody>
          <a:bodyPr/>
          <a:lstStyle/>
          <a:p>
            <a:r>
              <a:rPr sz="1200">
                <a:latin typeface="Times New Roman"/>
              </a:rPr>
              <a:t>5</a:t>
            </a:r>
          </a:p>
        </p:txBody>
      </p:sp>
      <p:sp>
        <p:nvSpPr>
          <p:cNvPr id="14" name="Rectangle 7">
            <a:extLst>
              <a:ext uri="{FF2B5EF4-FFF2-40B4-BE49-F238E27FC236}">
                <a16:creationId xmlns:a16="http://schemas.microsoft.com/office/drawing/2014/main" id="{AAAB1357-11B3-CE1C-5D4B-3F4D4CE17655}"/>
              </a:ext>
            </a:extLst>
          </p:cNvPr>
          <p:cNvSpPr>
            <a:spLocks noGrp="1" noChangeArrowheads="1"/>
          </p:cNvSpPr>
          <p:nvPr>
            <p:ph idx="1"/>
          </p:nvPr>
        </p:nvSpPr>
        <p:spPr bwMode="auto">
          <a:xfrm>
            <a:off x="342900" y="880244"/>
            <a:ext cx="8458200"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sz="1600">
                <a:latin typeface="Times New Roman"/>
              </a:rPr>
              <a:t>Provide a React/Vite web administrative dashboard for KYC document inspection, CNIC verification, dispute mediation, and system analytics.</a:t>
            </a:r>
          </a:p>
          <a:p>
            <a:r>
              <a:rPr sz="1600">
                <a:latin typeface="Times New Roman"/>
              </a:rPr>
              <a:t>Enforce database-level scheduling integrity and double-booking locks preventing conflicting appointments for domestic workers.</a:t>
            </a:r>
          </a:p>
          <a:p>
            <a:r>
              <a:rPr sz="1600">
                <a:latin typeface="Times New Roman"/>
              </a:rPr>
              <a:t>Implement multi-dimensional review mechanisms evaluating punctuality, professional behavior, and task completion quality.</a:t>
            </a:r>
          </a:p>
          <a:p>
            <a:r>
              <a:rPr sz="1600">
                <a:latin typeface="Times New Roman"/>
              </a:rPr>
              <a:t>Implement Supabase JWT authentication and 24 Row Level Security (RLS) policies guaranteeing multi-tenant data isolation and privacy.</a:t>
            </a:r>
          </a:p>
          <a:p>
            <a:r>
              <a:rPr sz="1600">
                <a:latin typeface="Times New Roman"/>
              </a:rPr>
              <a:t>Validate system performance with an Abbottabad cold-start evaluation dataset covering real local neighborhoods (Mandian, Jinnahabad, Supply, PMA Kakul, Murree Road).</a:t>
            </a:r>
          </a:p>
        </p:txBody>
      </p:sp>
    </p:spTree>
    <p:extLst>
      <p:ext uri="{BB962C8B-B14F-4D97-AF65-F5344CB8AC3E}">
        <p14:creationId xmlns:p14="http://schemas.microsoft.com/office/powerpoint/2010/main" val="518423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57199"/>
          </a:xfrm>
        </p:spPr>
        <p:txBody>
          <a:bodyPr>
            <a:normAutofit fontScale="90000"/>
          </a:bodyPr>
          <a:lstStyle/>
          <a:p>
            <a:r>
              <a:rPr sz="3600">
                <a:latin typeface="Times New Roman"/>
              </a:rPr>
              <a:t>Functional Requirements</a:t>
            </a:r>
          </a:p>
        </p:txBody>
      </p:sp>
      <p:sp>
        <p:nvSpPr>
          <p:cNvPr id="4" name="Slide Number Placeholder 3"/>
          <p:cNvSpPr>
            <a:spLocks noGrp="1"/>
          </p:cNvSpPr>
          <p:nvPr>
            <p:ph type="sldNum" sz="quarter" idx="12"/>
          </p:nvPr>
        </p:nvSpPr>
        <p:spPr/>
        <p:txBody>
          <a:bodyPr/>
          <a:lstStyle/>
          <a:p>
            <a:r>
              <a:rPr sz="1200">
                <a:latin typeface="Times New Roman"/>
              </a:rPr>
              <a:t>6</a:t>
            </a:r>
          </a:p>
        </p:txBody>
      </p:sp>
      <p:sp>
        <p:nvSpPr>
          <p:cNvPr id="6" name="Content Placeholder 5">
            <a:extLst>
              <a:ext uri="{FF2B5EF4-FFF2-40B4-BE49-F238E27FC236}">
                <a16:creationId xmlns:a16="http://schemas.microsoft.com/office/drawing/2014/main" id="{C888B0EE-0970-E2AB-ADF2-A349B7E73C40}"/>
              </a:ext>
            </a:extLst>
          </p:cNvPr>
          <p:cNvSpPr>
            <a:spLocks noGrp="1"/>
          </p:cNvSpPr>
          <p:nvPr>
            <p:ph idx="1"/>
          </p:nvPr>
        </p:nvSpPr>
        <p:spPr>
          <a:xfrm>
            <a:off x="457200" y="949582"/>
            <a:ext cx="8229600" cy="5394326"/>
          </a:xfrm>
        </p:spPr>
        <p:txBody>
          <a:bodyPr>
            <a:normAutofit fontScale="62500" lnSpcReduction="20000"/>
          </a:bodyPr>
          <a:lstStyle/>
          <a:p>
            <a:r>
              <a:rPr sz="2000" b="1">
                <a:latin typeface="Times New Roman"/>
              </a:rPr>
              <a:t>Household Functional Requirements</a:t>
            </a:r>
          </a:p>
          <a:p>
            <a:r>
              <a:rPr sz="1400" b="1">
                <a:latin typeface="Times New Roman"/>
              </a:rPr>
              <a:t>Household Registration &amp; Profile: </a:t>
            </a:r>
            <a:r>
              <a:rPr sz="1400">
                <a:latin typeface="Times New Roman"/>
              </a:rPr>
              <a:t>Allows households to create an account, manage contact information, and configure Abbottabad locality.</a:t>
            </a:r>
          </a:p>
          <a:p>
            <a:r>
              <a:rPr sz="1400" b="1">
                <a:latin typeface="Times New Roman"/>
              </a:rPr>
              <a:t>AI Worker Discovery &amp; Search: </a:t>
            </a:r>
            <a:r>
              <a:rPr sz="1400">
                <a:latin typeface="Times New Roman"/>
              </a:rPr>
              <a:t>Enables households to filter domestic workers by category, budget, and distance, receiving real-time Content-Based AI rankings.</a:t>
            </a:r>
          </a:p>
          <a:p>
            <a:r>
              <a:rPr sz="1400" b="1">
                <a:latin typeface="Times New Roman"/>
              </a:rPr>
              <a:t>Explainable AI Match Badging: </a:t>
            </a:r>
            <a:r>
              <a:rPr sz="1400">
                <a:latin typeface="Times New Roman"/>
              </a:rPr>
              <a:t>Allows households to view transparent match percentages detailing skill alignment, distance, and past ratings.</a:t>
            </a:r>
          </a:p>
          <a:p>
            <a:r>
              <a:rPr sz="1400" b="1">
                <a:latin typeface="Times New Roman"/>
              </a:rPr>
              <a:t>Direct Booking Request Formulation: </a:t>
            </a:r>
            <a:r>
              <a:rPr sz="1400">
                <a:latin typeface="Times New Roman"/>
              </a:rPr>
              <a:t>Enables households to schedule direct service requests specifying start dates, hours, and chore checklists.</a:t>
            </a:r>
          </a:p>
          <a:p>
            <a:r>
              <a:rPr sz="1400" b="1">
                <a:latin typeface="Times New Roman"/>
              </a:rPr>
              <a:t>Publish Open Neighborhood Gigs: </a:t>
            </a:r>
            <a:r>
              <a:rPr sz="1400">
                <a:latin typeface="Times New Roman"/>
              </a:rPr>
              <a:t>Allows households to post customized chore requirements with defined budget and timeline to the job board.</a:t>
            </a:r>
          </a:p>
          <a:p>
            <a:r>
              <a:rPr sz="1400" b="1">
                <a:latin typeface="Times New Roman"/>
              </a:rPr>
              <a:t>Review Worker Applications: </a:t>
            </a:r>
            <a:r>
              <a:rPr sz="1400">
                <a:latin typeface="Times New Roman"/>
              </a:rPr>
              <a:t>Enables households to evaluate applying domestic workers for posted gigs and accept the best candidate.</a:t>
            </a:r>
          </a:p>
          <a:p>
            <a:r>
              <a:rPr sz="1400" b="1">
                <a:latin typeface="Times New Roman"/>
              </a:rPr>
              <a:t>Digital Service Agreement Sign-off: </a:t>
            </a:r>
            <a:r>
              <a:rPr sz="1400">
                <a:latin typeface="Times New Roman"/>
              </a:rPr>
              <a:t>Allows households to review and digitally sign auto-generated employment contracts prior to job commencement.</a:t>
            </a:r>
          </a:p>
          <a:p>
            <a:r>
              <a:rPr sz="1400" b="1">
                <a:latin typeface="Times New Roman"/>
              </a:rPr>
              <a:t>Manual Payment Logging &amp; Receipts: </a:t>
            </a:r>
            <a:r>
              <a:rPr sz="1400">
                <a:latin typeface="Times New Roman"/>
              </a:rPr>
              <a:t>Allows households to record payments via Cash, JazzCash, or EasyPaisa and attach screenshot receipts.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18275-C66C-C1F1-2D24-8EA3480D6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2F881-9D35-1C53-4A68-A33D19D2181F}"/>
              </a:ext>
            </a:extLst>
          </p:cNvPr>
          <p:cNvSpPr>
            <a:spLocks noGrp="1"/>
          </p:cNvSpPr>
          <p:nvPr>
            <p:ph type="title"/>
          </p:nvPr>
        </p:nvSpPr>
        <p:spPr>
          <a:xfrm>
            <a:off x="457200" y="274638"/>
            <a:ext cx="8229600" cy="639762"/>
          </a:xfrm>
        </p:spPr>
        <p:txBody>
          <a:bodyPr>
            <a:normAutofit fontScale="90000"/>
          </a:bodyPr>
          <a:lstStyle/>
          <a:p>
            <a:r>
              <a:rPr sz="3600">
                <a:latin typeface="Times New Roman"/>
              </a:rPr>
              <a:t>Functional Requirements(Cont.)</a:t>
            </a:r>
          </a:p>
        </p:txBody>
      </p:sp>
      <p:sp>
        <p:nvSpPr>
          <p:cNvPr id="4" name="Slide Number Placeholder 3">
            <a:extLst>
              <a:ext uri="{FF2B5EF4-FFF2-40B4-BE49-F238E27FC236}">
                <a16:creationId xmlns:a16="http://schemas.microsoft.com/office/drawing/2014/main" id="{79A775E8-C9A7-4FC4-3E45-201D020D9E0B}"/>
              </a:ext>
            </a:extLst>
          </p:cNvPr>
          <p:cNvSpPr>
            <a:spLocks noGrp="1"/>
          </p:cNvSpPr>
          <p:nvPr>
            <p:ph type="sldNum" sz="quarter" idx="12"/>
          </p:nvPr>
        </p:nvSpPr>
        <p:spPr/>
        <p:txBody>
          <a:bodyPr/>
          <a:lstStyle/>
          <a:p>
            <a:r>
              <a:rPr sz="1200">
                <a:latin typeface="Times New Roman"/>
              </a:rPr>
              <a:t>7</a:t>
            </a:r>
          </a:p>
        </p:txBody>
      </p:sp>
      <p:sp>
        <p:nvSpPr>
          <p:cNvPr id="6" name="Content Placeholder 5">
            <a:extLst>
              <a:ext uri="{FF2B5EF4-FFF2-40B4-BE49-F238E27FC236}">
                <a16:creationId xmlns:a16="http://schemas.microsoft.com/office/drawing/2014/main" id="{F3563124-F254-5243-70E7-AB1732B7F12F}"/>
              </a:ext>
            </a:extLst>
          </p:cNvPr>
          <p:cNvSpPr>
            <a:spLocks noGrp="1"/>
          </p:cNvSpPr>
          <p:nvPr>
            <p:ph idx="1"/>
          </p:nvPr>
        </p:nvSpPr>
        <p:spPr>
          <a:xfrm>
            <a:off x="457200" y="914400"/>
            <a:ext cx="8229600" cy="5211763"/>
          </a:xfrm>
        </p:spPr>
        <p:txBody>
          <a:bodyPr>
            <a:normAutofit fontScale="70000" lnSpcReduction="20000"/>
          </a:bodyPr>
          <a:lstStyle/>
          <a:p>
            <a:r>
              <a:rPr sz="2000" b="1">
                <a:latin typeface="Times New Roman"/>
              </a:rPr>
              <a:t>Domestic Worker Functional Requirements</a:t>
            </a:r>
          </a:p>
          <a:p>
            <a:r>
              <a:rPr sz="1400" b="1">
                <a:latin typeface="Times New Roman"/>
              </a:rPr>
              <a:t>Worker Registration &amp; Profile Management: </a:t>
            </a:r>
            <a:r>
              <a:rPr sz="1400">
                <a:latin typeface="Times New Roman"/>
              </a:rPr>
              <a:t>Allows workers to create a profile, specify bio, years of experience, and base Abbottabad neighborhood.</a:t>
            </a:r>
          </a:p>
          <a:p>
            <a:r>
              <a:rPr sz="1400" b="1">
                <a:latin typeface="Times New Roman"/>
              </a:rPr>
              <a:t>KYC &amp; CNIC Document Submission: </a:t>
            </a:r>
            <a:r>
              <a:rPr sz="1400">
                <a:latin typeface="Times New Roman"/>
              </a:rPr>
              <a:t>Enables workers to upload high-resolution front/back CNIC images and reference certificates for administrative vetting.</a:t>
            </a:r>
          </a:p>
          <a:p>
            <a:r>
              <a:rPr sz="1400" b="1">
                <a:latin typeface="Times New Roman"/>
              </a:rPr>
              <a:t>Service Category &amp; Pricing Configuration: </a:t>
            </a:r>
            <a:r>
              <a:rPr sz="1400">
                <a:latin typeface="Times New Roman"/>
              </a:rPr>
              <a:t>Allows workers to select service specialties (Cooking, Cleaning, Childcare, Elderly Care, Maid) and configure hourly or visit rates.</a:t>
            </a:r>
          </a:p>
          <a:p>
            <a:r>
              <a:rPr sz="1400" b="1">
                <a:latin typeface="Times New Roman"/>
              </a:rPr>
              <a:t>Weekly Availability Slot Management: </a:t>
            </a:r>
            <a:r>
              <a:rPr sz="1400">
                <a:latin typeface="Times New Roman"/>
              </a:rPr>
              <a:t>Provides a weekly scheduling calendar enabling workers to toggle availability time slots by day.</a:t>
            </a:r>
          </a:p>
          <a:p>
            <a:r>
              <a:rPr sz="1400" b="1">
                <a:latin typeface="Times New Roman"/>
              </a:rPr>
              <a:t>Bidirectional Job Board Feed: </a:t>
            </a:r>
            <a:r>
              <a:rPr sz="1400">
                <a:latin typeface="Times New Roman"/>
              </a:rPr>
              <a:t>Displays open gigs posted by nearby households matching registered trades and geographical radius.</a:t>
            </a:r>
          </a:p>
          <a:p>
            <a:r>
              <a:rPr sz="1400" b="1">
                <a:latin typeface="Times New Roman"/>
              </a:rPr>
              <a:t>One-Tap Job Application Submission: </a:t>
            </a:r>
            <a:r>
              <a:rPr sz="1400">
                <a:latin typeface="Times New Roman"/>
              </a:rPr>
              <a:t>Enables domestic workers to proactively apply for open gigs with proposed rates and notes.</a:t>
            </a:r>
          </a:p>
          <a:p>
            <a:r>
              <a:rPr sz="1400" b="1">
                <a:latin typeface="Times New Roman"/>
              </a:rPr>
              <a:t>Booking Invitation Management: </a:t>
            </a:r>
            <a:r>
              <a:rPr sz="1400">
                <a:latin typeface="Times New Roman"/>
              </a:rPr>
              <a:t>Allows workers to inspect, accept, or decline incoming household booking requests in real-time.</a:t>
            </a:r>
          </a:p>
          <a:p>
            <a:r>
              <a:rPr sz="1400" b="1">
                <a:latin typeface="Times New Roman"/>
              </a:rPr>
              <a:t>Payment Receipt Confirmation: </a:t>
            </a:r>
            <a:r>
              <a:rPr sz="1400">
                <a:latin typeface="Times New Roman"/>
              </a:rPr>
              <a:t>Allows workers to inspect household payment logs and confirm receipt of cash or mobile wallet funds.</a:t>
            </a:r>
          </a:p>
          <a:p>
            <a:r>
              <a:rPr sz="1400" b="1">
                <a:latin typeface="Times New Roman"/>
              </a:rPr>
              <a:t>Bilingual Urdu Navigation: </a:t>
            </a:r>
            <a:r>
              <a:rPr sz="1400">
                <a:latin typeface="Times New Roman"/>
              </a:rPr>
              <a:t>Enables workers to access complete app features in Urdu (اردو) supported by high-contrast pictorial visual icons.</a:t>
            </a:r>
          </a:p>
        </p:txBody>
      </p:sp>
    </p:spTree>
    <p:extLst>
      <p:ext uri="{BB962C8B-B14F-4D97-AF65-F5344CB8AC3E}">
        <p14:creationId xmlns:p14="http://schemas.microsoft.com/office/powerpoint/2010/main" val="4069681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8057B-B616-C3B6-6F2A-3AA1AE0A2A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11425-6E34-73D1-42A9-D2D0D80E9476}"/>
              </a:ext>
            </a:extLst>
          </p:cNvPr>
          <p:cNvSpPr>
            <a:spLocks noGrp="1"/>
          </p:cNvSpPr>
          <p:nvPr>
            <p:ph type="title"/>
          </p:nvPr>
        </p:nvSpPr>
        <p:spPr/>
        <p:txBody>
          <a:bodyPr/>
          <a:lstStyle/>
          <a:p>
            <a:r>
              <a:rPr sz="3600">
                <a:latin typeface="Times New Roman"/>
              </a:rPr>
              <a:t>Functional Requirements(Cont.)</a:t>
            </a:r>
          </a:p>
        </p:txBody>
      </p:sp>
      <p:sp>
        <p:nvSpPr>
          <p:cNvPr id="4" name="Slide Number Placeholder 3">
            <a:extLst>
              <a:ext uri="{FF2B5EF4-FFF2-40B4-BE49-F238E27FC236}">
                <a16:creationId xmlns:a16="http://schemas.microsoft.com/office/drawing/2014/main" id="{F71B5DDE-7F19-3552-80DE-14B74407AC48}"/>
              </a:ext>
            </a:extLst>
          </p:cNvPr>
          <p:cNvSpPr>
            <a:spLocks noGrp="1"/>
          </p:cNvSpPr>
          <p:nvPr>
            <p:ph type="sldNum" sz="quarter" idx="12"/>
          </p:nvPr>
        </p:nvSpPr>
        <p:spPr/>
        <p:txBody>
          <a:bodyPr/>
          <a:lstStyle/>
          <a:p>
            <a:r>
              <a:rPr sz="1200">
                <a:latin typeface="Times New Roman"/>
              </a:rPr>
              <a:t>8</a:t>
            </a:r>
          </a:p>
        </p:txBody>
      </p:sp>
      <p:sp>
        <p:nvSpPr>
          <p:cNvPr id="6" name="Content Placeholder 5">
            <a:extLst>
              <a:ext uri="{FF2B5EF4-FFF2-40B4-BE49-F238E27FC236}">
                <a16:creationId xmlns:a16="http://schemas.microsoft.com/office/drawing/2014/main" id="{C9E3B5C4-1644-0781-07F9-4999DEC684B5}"/>
              </a:ext>
            </a:extLst>
          </p:cNvPr>
          <p:cNvSpPr>
            <a:spLocks noGrp="1"/>
          </p:cNvSpPr>
          <p:nvPr>
            <p:ph idx="1"/>
          </p:nvPr>
        </p:nvSpPr>
        <p:spPr>
          <a:xfrm>
            <a:off x="457200" y="1219200"/>
            <a:ext cx="8229600" cy="4906963"/>
          </a:xfrm>
        </p:spPr>
        <p:txBody>
          <a:bodyPr>
            <a:normAutofit fontScale="92500" lnSpcReduction="10000"/>
          </a:bodyPr>
          <a:lstStyle/>
          <a:p>
            <a:r>
              <a:rPr sz="2000" b="1">
                <a:latin typeface="Times New Roman"/>
              </a:rPr>
              <a:t>AI Recommendation &amp; Marketplace Functional Requirements</a:t>
            </a:r>
          </a:p>
          <a:p>
            <a:r>
              <a:rPr sz="1400" b="1">
                <a:latin typeface="Times New Roman"/>
              </a:rPr>
              <a:t>Skill Vectorization: </a:t>
            </a:r>
            <a:r>
              <a:rPr sz="1400">
                <a:latin typeface="Times New Roman"/>
              </a:rPr>
              <a:t>Transforms household chore demands and worker capabilities into multi-hot binary attribute vectors across 50 skills.</a:t>
            </a:r>
          </a:p>
          <a:p>
            <a:r>
              <a:rPr sz="1400" b="1">
                <a:latin typeface="Times New Roman"/>
              </a:rPr>
              <a:t>Cosine Similarity Computation: </a:t>
            </a:r>
            <a:r>
              <a:rPr sz="1400">
                <a:latin typeface="Times New Roman"/>
              </a:rPr>
              <a:t>Computes mathematical dot-product similarity between worker skill vectors and household demands.</a:t>
            </a:r>
          </a:p>
          <a:p>
            <a:r>
              <a:rPr sz="1400" b="1">
                <a:latin typeface="Times New Roman"/>
              </a:rPr>
              <a:t>Haversine Proximity Decay: </a:t>
            </a:r>
            <a:r>
              <a:rPr sz="1400">
                <a:latin typeface="Times New Roman"/>
              </a:rPr>
              <a:t>Calculates geodesic distance in kilometers between coordinates and applies exponential spatial decay penalties.</a:t>
            </a:r>
          </a:p>
          <a:p>
            <a:r>
              <a:rPr sz="1400" b="1">
                <a:latin typeface="Times New Roman"/>
              </a:rPr>
              <a:t>Composite Match Scoring: </a:t>
            </a:r>
            <a:r>
              <a:rPr sz="1400">
                <a:latin typeface="Times New Roman"/>
              </a:rPr>
              <a:t>Computes weighted score combining skill similarity (50%), proximity (30%), and normalized ratings (20%).</a:t>
            </a:r>
          </a:p>
          <a:p>
            <a:r>
              <a:rPr sz="1400" b="1">
                <a:latin typeface="Times New Roman"/>
              </a:rPr>
              <a:t>Explainable AI (XAI) Badging: </a:t>
            </a:r>
            <a:r>
              <a:rPr sz="1400">
                <a:latin typeface="Times New Roman"/>
              </a:rPr>
              <a:t>Generates human-readable badges explaining why the worker was recommended (skills, distance, ratings).</a:t>
            </a:r>
          </a:p>
          <a:p>
            <a:r>
              <a:rPr sz="1400" b="1">
                <a:latin typeface="Times New Roman"/>
              </a:rPr>
              <a:t>Bidirectional Feed Matching: </a:t>
            </a:r>
            <a:r>
              <a:rPr sz="1400">
                <a:latin typeface="Times New Roman"/>
              </a:rPr>
              <a:t>Filters open gigs for domestic workers matching their approved categories within their travel radius.</a:t>
            </a:r>
          </a:p>
          <a:p>
            <a:r>
              <a:rPr sz="1400" b="1">
                <a:latin typeface="Times New Roman"/>
              </a:rPr>
              <a:t>Double-Booking Conflict Lock: </a:t>
            </a:r>
            <a:r>
              <a:rPr sz="1400">
                <a:latin typeface="Times New Roman"/>
              </a:rPr>
              <a:t>Enforces transactional database constraints preventing overlapping bookings for the same worker.</a:t>
            </a:r>
          </a:p>
          <a:p>
            <a:r>
              <a:rPr sz="1400" b="1">
                <a:latin typeface="Times New Roman"/>
              </a:rPr>
              <a:t>Dispute Ticket Logging: </a:t>
            </a:r>
            <a:r>
              <a:rPr sz="1400">
                <a:latin typeface="Times New Roman"/>
              </a:rPr>
              <a:t>Allows either party to log formal dispute tickets with photographic evidence and detailed claims.</a:t>
            </a:r>
          </a:p>
        </p:txBody>
      </p:sp>
    </p:spTree>
    <p:extLst>
      <p:ext uri="{BB962C8B-B14F-4D97-AF65-F5344CB8AC3E}">
        <p14:creationId xmlns:p14="http://schemas.microsoft.com/office/powerpoint/2010/main" val="3133880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C733E-258A-FF2F-181C-6949FF98B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81114-AC34-24C0-3F6D-7C2F912FADA9}"/>
              </a:ext>
            </a:extLst>
          </p:cNvPr>
          <p:cNvSpPr>
            <a:spLocks noGrp="1"/>
          </p:cNvSpPr>
          <p:nvPr>
            <p:ph type="title"/>
          </p:nvPr>
        </p:nvSpPr>
        <p:spPr/>
        <p:txBody>
          <a:bodyPr/>
          <a:lstStyle/>
          <a:p>
            <a:r>
              <a:rPr sz="3600">
                <a:latin typeface="Times New Roman"/>
              </a:rPr>
              <a:t>Functional Requirements(Cont.)</a:t>
            </a:r>
          </a:p>
        </p:txBody>
      </p:sp>
      <p:sp>
        <p:nvSpPr>
          <p:cNvPr id="4" name="Slide Number Placeholder 3">
            <a:extLst>
              <a:ext uri="{FF2B5EF4-FFF2-40B4-BE49-F238E27FC236}">
                <a16:creationId xmlns:a16="http://schemas.microsoft.com/office/drawing/2014/main" id="{F290E6B6-D5A1-AD6E-6D4B-492B3E3F95B0}"/>
              </a:ext>
            </a:extLst>
          </p:cNvPr>
          <p:cNvSpPr>
            <a:spLocks noGrp="1"/>
          </p:cNvSpPr>
          <p:nvPr>
            <p:ph type="sldNum" sz="quarter" idx="12"/>
          </p:nvPr>
        </p:nvSpPr>
        <p:spPr/>
        <p:txBody>
          <a:bodyPr/>
          <a:lstStyle/>
          <a:p>
            <a:r>
              <a:rPr sz="1200">
                <a:latin typeface="Times New Roman"/>
              </a:rPr>
              <a:t>9</a:t>
            </a:r>
          </a:p>
        </p:txBody>
      </p:sp>
      <p:sp>
        <p:nvSpPr>
          <p:cNvPr id="6" name="Content Placeholder 5">
            <a:extLst>
              <a:ext uri="{FF2B5EF4-FFF2-40B4-BE49-F238E27FC236}">
                <a16:creationId xmlns:a16="http://schemas.microsoft.com/office/drawing/2014/main" id="{5489583B-176D-6AFD-B247-59DAF74574AE}"/>
              </a:ext>
            </a:extLst>
          </p:cNvPr>
          <p:cNvSpPr>
            <a:spLocks noGrp="1"/>
          </p:cNvSpPr>
          <p:nvPr>
            <p:ph idx="1"/>
          </p:nvPr>
        </p:nvSpPr>
        <p:spPr>
          <a:xfrm>
            <a:off x="457200" y="1295400"/>
            <a:ext cx="8229600" cy="4830763"/>
          </a:xfrm>
        </p:spPr>
        <p:txBody>
          <a:bodyPr>
            <a:normAutofit fontScale="77500" lnSpcReduction="20000"/>
          </a:bodyPr>
          <a:lstStyle/>
          <a:p>
            <a:r>
              <a:rPr sz="2000" b="1">
                <a:latin typeface="Times New Roman"/>
              </a:rPr>
              <a:t>Admin Functional Requirements</a:t>
            </a:r>
          </a:p>
          <a:p>
            <a:r>
              <a:rPr sz="1400" b="1">
                <a:latin typeface="Times New Roman"/>
              </a:rPr>
              <a:t>Administrator Authentication: </a:t>
            </a:r>
            <a:r>
              <a:rPr sz="1400">
                <a:latin typeface="Times New Roman"/>
              </a:rPr>
              <a:t>Provides secure role-based dashboard access for university evaluators and platform managers.</a:t>
            </a:r>
          </a:p>
          <a:p>
            <a:r>
              <a:rPr sz="1400" b="1">
                <a:latin typeface="Times New Roman"/>
              </a:rPr>
              <a:t>Worker Verification Queue: </a:t>
            </a:r>
            <a:r>
              <a:rPr sz="1400">
                <a:latin typeface="Times New Roman"/>
              </a:rPr>
              <a:t>Allows administrators to inspect submitted CNIC cards, verify identity records, and approve or reject workers.</a:t>
            </a:r>
          </a:p>
          <a:p>
            <a:r>
              <a:rPr sz="1400" b="1">
                <a:latin typeface="Times New Roman"/>
              </a:rPr>
              <a:t>Dispute Mediation Console: </a:t>
            </a:r>
            <a:r>
              <a:rPr sz="1400">
                <a:latin typeface="Times New Roman"/>
              </a:rPr>
              <a:t>Enables administrators to inspect disputed bookings, review photographic evidence and payment logs, and issue binding resolutions.</a:t>
            </a:r>
          </a:p>
          <a:p>
            <a:r>
              <a:rPr sz="1400" b="1">
                <a:latin typeface="Times New Roman"/>
              </a:rPr>
              <a:t>User &amp; Booking Audit Ledgers: </a:t>
            </a:r>
            <a:r>
              <a:rPr sz="1400">
                <a:latin typeface="Times New Roman"/>
              </a:rPr>
              <a:t>Allows administrators to monitor global platform activity, track booking lifecycles, and inspect audit records.</a:t>
            </a:r>
          </a:p>
          <a:p>
            <a:r>
              <a:rPr sz="1400" b="1">
                <a:latin typeface="Times New Roman"/>
              </a:rPr>
              <a:t>Platform Taxonomy &amp; Skill Management: </a:t>
            </a:r>
            <a:r>
              <a:rPr sz="1400">
                <a:latin typeface="Times New Roman"/>
              </a:rPr>
              <a:t>Enables administrators to manage domestic service categories, skills, and standardized rates.</a:t>
            </a:r>
          </a:p>
          <a:p>
            <a:r>
              <a:rPr sz="1400" b="1">
                <a:latin typeface="Times New Roman"/>
              </a:rPr>
              <a:t>Data Export &amp; Compliance Reporting: </a:t>
            </a:r>
            <a:r>
              <a:rPr sz="1400">
                <a:latin typeface="Times New Roman"/>
              </a:rPr>
              <a:t>Supports exporting platform activity, user rosters, and dispute statistics in CSV format for academic evaluation.</a:t>
            </a:r>
          </a:p>
        </p:txBody>
      </p:sp>
    </p:spTree>
    <p:extLst>
      <p:ext uri="{BB962C8B-B14F-4D97-AF65-F5344CB8AC3E}">
        <p14:creationId xmlns:p14="http://schemas.microsoft.com/office/powerpoint/2010/main" val="313942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17"/>
            <a:ext cx="8229600" cy="1143000"/>
          </a:xfrm>
        </p:spPr>
        <p:txBody>
          <a:bodyPr>
            <a:normAutofit/>
          </a:bodyPr>
          <a:lstStyle/>
          <a:p>
            <a:r>
              <a:rPr sz="3600">
                <a:latin typeface="Times New Roman"/>
              </a:rPr>
              <a:t>Non-Functional Requirements</a:t>
            </a:r>
          </a:p>
        </p:txBody>
      </p:sp>
      <p:sp>
        <p:nvSpPr>
          <p:cNvPr id="3" name="Content Placeholder 2"/>
          <p:cNvSpPr>
            <a:spLocks noGrp="1"/>
          </p:cNvSpPr>
          <p:nvPr>
            <p:ph idx="1"/>
          </p:nvPr>
        </p:nvSpPr>
        <p:spPr>
          <a:xfrm>
            <a:off x="457200" y="1219200"/>
            <a:ext cx="8229600" cy="5348605"/>
          </a:xfrm>
        </p:spPr>
        <p:txBody>
          <a:bodyPr>
            <a:noAutofit/>
          </a:bodyPr>
          <a:lstStyle/>
          <a:p>
            <a:r>
              <a:rPr sz="1800" b="1">
                <a:latin typeface="Times New Roman"/>
              </a:rPr>
              <a:t>Usability Requirements</a:t>
            </a:r>
          </a:p>
          <a:p>
            <a:r>
              <a:rPr sz="1300" b="1">
                <a:latin typeface="Times New Roman"/>
              </a:rPr>
              <a:t>NFR-USE-01 — Low-Literacy Accessibility
</a:t>
            </a:r>
            <a:r>
              <a:rPr sz="1300">
                <a:latin typeface="Times New Roman"/>
              </a:rPr>
              <a:t>All critical worker actions (accept job, view feed, confirm pay) executable within ≤3 taps from home screen. High-contrast pictorial iconography for all tasks.</a:t>
            </a:r>
          </a:p>
          <a:p>
            <a:r>
              <a:rPr sz="1300" b="1">
                <a:latin typeface="Times New Roman"/>
              </a:rPr>
              <a:t>NFR-USE-02 — Native Urdu &amp; RTL
</a:t>
            </a:r>
            <a:r>
              <a:rPr sz="1300">
                <a:latin typeface="Times New Roman"/>
              </a:rPr>
              <a:t>Flawless bilingual layout switching with correct Right-to-Left (RTL) padding and Urdu typography.</a:t>
            </a:r>
          </a:p>
          <a:p>
            <a:r>
              <a:rPr sz="1800" b="1">
                <a:latin typeface="Times New Roman"/>
              </a:rPr>
              <a:t>Reliability Requirements</a:t>
            </a:r>
          </a:p>
          <a:p>
            <a:r>
              <a:rPr sz="1300" b="1">
                <a:latin typeface="Times New Roman"/>
              </a:rPr>
              <a:t>NFR-REL-01 — High Availability
</a:t>
            </a:r>
            <a:r>
              <a:rPr sz="1300">
                <a:latin typeface="Times New Roman"/>
              </a:rPr>
              <a:t>The system shall maintain 99.5% uptime backed by Supabase cloud infrastructure.</a:t>
            </a:r>
          </a:p>
          <a:p>
            <a:r>
              <a:rPr sz="1300" b="1">
                <a:latin typeface="Times New Roman"/>
              </a:rPr>
              <a:t>NFR-REL-02 — Prevent Double Booking
</a:t>
            </a:r>
            <a:r>
              <a:rPr sz="1300">
                <a:latin typeface="Times New Roman"/>
              </a:rPr>
              <a:t>The system shall ensure no worker can be double-booked across overlapping calendar time slots.</a:t>
            </a:r>
          </a:p>
          <a:p>
            <a:r>
              <a:rPr sz="1800" b="1">
                <a:latin typeface="Times New Roman"/>
              </a:rPr>
              <a:t>Performance Requirements</a:t>
            </a:r>
          </a:p>
          <a:p>
            <a:r>
              <a:rPr sz="1300" b="1">
                <a:latin typeface="Times New Roman"/>
              </a:rPr>
              <a:t>NFR-PERF-01 — Fast Response
</a:t>
            </a:r>
            <a:r>
              <a:rPr sz="1300">
                <a:latin typeface="Times New Roman"/>
              </a:rPr>
              <a:t>Content-Based AI recommendation engine computes match scores across 500 worker profiles in &lt;250 ms.</a:t>
            </a:r>
          </a:p>
          <a:p>
            <a:r>
              <a:rPr sz="1300" b="1">
                <a:latin typeface="Times New Roman"/>
              </a:rPr>
              <a:t>NFR-PERF-02 — Scalable User Load
</a:t>
            </a:r>
            <a:r>
              <a:rPr sz="1300">
                <a:latin typeface="Times New Roman"/>
              </a:rPr>
              <a:t>Mobile UI maintains 60 FPS transitions with screen loading times under 2 seconds.</a:t>
            </a:r>
          </a:p>
        </p:txBody>
      </p:sp>
      <p:sp>
        <p:nvSpPr>
          <p:cNvPr id="4" name="Slide Number Placeholder 3"/>
          <p:cNvSpPr>
            <a:spLocks noGrp="1"/>
          </p:cNvSpPr>
          <p:nvPr>
            <p:ph type="sldNum" sz="quarter" idx="12"/>
          </p:nvPr>
        </p:nvSpPr>
        <p:spPr/>
        <p:txBody>
          <a:bodyPr/>
          <a:lstStyle/>
          <a:p>
            <a:r>
              <a:rPr sz="1200">
                <a:latin typeface="Times New Roman"/>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latin typeface="Times New Roman"/>
              </a:rPr>
              <a:t>User Goals</a:t>
            </a:r>
          </a:p>
        </p:txBody>
      </p:sp>
      <p:sp>
        <p:nvSpPr>
          <p:cNvPr id="3" name="Content Placeholder 2"/>
          <p:cNvSpPr>
            <a:spLocks noGrp="1"/>
          </p:cNvSpPr>
          <p:nvPr>
            <p:ph idx="1"/>
          </p:nvPr>
        </p:nvSpPr>
        <p:spPr/>
        <p:txBody>
          <a:bodyPr>
            <a:noAutofit/>
          </a:bodyPr>
          <a:lstStyle/>
          <a:p>
            <a:r>
              <a:rPr sz="1700">
                <a:latin typeface="Times New Roman"/>
              </a:rPr>
              <a:t>Find a </a:t>
            </a:r>
            <a:r>
              <a:rPr sz="1700" b="1">
                <a:latin typeface="Times New Roman"/>
              </a:rPr>
              <a:t>simple and centralized way</a:t>
            </a:r>
            <a:r>
              <a:rPr sz="1700">
                <a:latin typeface="Times New Roman"/>
              </a:rPr>
              <a:t> to discover and hire verified domestic help with complete safety.</a:t>
            </a:r>
          </a:p>
          <a:p>
            <a:r>
              <a:rPr sz="1700">
                <a:latin typeface="Times New Roman"/>
              </a:rPr>
              <a:t>Evaluate </a:t>
            </a:r>
            <a:r>
              <a:rPr sz="1700" b="1">
                <a:latin typeface="Times New Roman"/>
              </a:rPr>
              <a:t>transparent Explainable AI match scores</a:t>
            </a:r>
            <a:r>
              <a:rPr sz="1700">
                <a:latin typeface="Times New Roman"/>
              </a:rPr>
              <a:t> combining skills, distance, and authentic community ratings.</a:t>
            </a:r>
          </a:p>
          <a:p>
            <a:r>
              <a:rPr sz="1700">
                <a:latin typeface="Times New Roman"/>
              </a:rPr>
              <a:t>Empower domestic workers with </a:t>
            </a:r>
            <a:r>
              <a:rPr sz="1700" b="1">
                <a:latin typeface="Times New Roman"/>
              </a:rPr>
              <a:t>active marketplace agency</a:t>
            </a:r>
            <a:r>
              <a:rPr sz="1700">
                <a:latin typeface="Times New Roman"/>
              </a:rPr>
              <a:t> to browse open household jobs and apply proactively.</a:t>
            </a:r>
          </a:p>
          <a:p>
            <a:r>
              <a:rPr sz="1700">
                <a:latin typeface="Times New Roman"/>
              </a:rPr>
              <a:t>Prevent disputes and wage ambiguity through </a:t>
            </a:r>
            <a:r>
              <a:rPr sz="1700" b="1">
                <a:latin typeface="Times New Roman"/>
              </a:rPr>
              <a:t>formal digital service agreements</a:t>
            </a:r>
            <a:r>
              <a:rPr sz="1700">
                <a:latin typeface="Times New Roman"/>
              </a:rPr>
              <a:t> and manual payment audit logs.</a:t>
            </a:r>
          </a:p>
          <a:p>
            <a:r>
              <a:rPr sz="1700">
                <a:latin typeface="Times New Roman"/>
              </a:rPr>
              <a:t>Overcome language and literacy barriers through </a:t>
            </a:r>
            <a:r>
              <a:rPr sz="1700" b="1">
                <a:latin typeface="Times New Roman"/>
              </a:rPr>
              <a:t>native Urdu localization and visual pictorial guides</a:t>
            </a:r>
            <a:r>
              <a:rPr sz="1700">
                <a:latin typeface="Times New Roman"/>
              </a:rPr>
              <a:t>.</a:t>
            </a:r>
          </a:p>
          <a:p>
            <a:r>
              <a:rPr sz="1700">
                <a:latin typeface="Times New Roman"/>
              </a:rPr>
              <a:t>Save time and eliminate stress by replacing </a:t>
            </a:r>
            <a:r>
              <a:rPr sz="1700" b="1">
                <a:latin typeface="Times New Roman"/>
              </a:rPr>
              <a:t>unreliable word-of-mouth networks</a:t>
            </a:r>
            <a:r>
              <a:rPr sz="1700">
                <a:latin typeface="Times New Roman"/>
              </a:rPr>
              <a:t> with a single, trusted mobile platform.</a:t>
            </a:r>
          </a:p>
        </p:txBody>
      </p:sp>
      <p:sp>
        <p:nvSpPr>
          <p:cNvPr id="4" name="Slide Number Placeholder 3"/>
          <p:cNvSpPr>
            <a:spLocks noGrp="1"/>
          </p:cNvSpPr>
          <p:nvPr>
            <p:ph type="sldNum" sz="quarter" idx="12"/>
          </p:nvPr>
        </p:nvSpPr>
        <p:spPr/>
        <p:txBody>
          <a:bodyPr/>
          <a:lstStyle/>
          <a:p>
            <a:r>
              <a:rPr sz="1200">
                <a:latin typeface="Times New Roman"/>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latin typeface="Times New Roman"/>
              </a:rPr>
              <a:t>Use Cases</a:t>
            </a:r>
          </a:p>
        </p:txBody>
      </p:sp>
      <p:sp>
        <p:nvSpPr>
          <p:cNvPr id="4" name="Slide Number Placeholder 3"/>
          <p:cNvSpPr>
            <a:spLocks noGrp="1"/>
          </p:cNvSpPr>
          <p:nvPr>
            <p:ph type="sldNum" sz="quarter" idx="12"/>
          </p:nvPr>
        </p:nvSpPr>
        <p:spPr/>
        <p:txBody>
          <a:bodyPr/>
          <a:lstStyle/>
          <a:p>
            <a:r>
              <a:rPr sz="1200">
                <a:latin typeface="Times New Roman"/>
              </a:rPr>
              <a:t>12</a:t>
            </a:r>
          </a:p>
        </p:txBody>
      </p:sp>
      <p:sp>
        <p:nvSpPr>
          <p:cNvPr id="9" name="TextBox 8">
            <a:extLst>
              <a:ext uri="{FF2B5EF4-FFF2-40B4-BE49-F238E27FC236}">
                <a16:creationId xmlns:a16="http://schemas.microsoft.com/office/drawing/2014/main" id="{F64078A7-A557-860B-BC55-15AC93BD613E}"/>
              </a:ext>
            </a:extLst>
          </p:cNvPr>
          <p:cNvSpPr txBox="1"/>
          <p:nvPr/>
        </p:nvSpPr>
        <p:spPr>
          <a:xfrm>
            <a:off x="450112" y="1255505"/>
            <a:ext cx="7391400" cy="4099648"/>
          </a:xfrm>
          <a:prstGeom prst="rect">
            <a:avLst/>
          </a:prstGeom>
          <a:noFill/>
        </p:spPr>
        <p:txBody>
          <a:bodyPr wrap="square" rtlCol="0">
            <a:spAutoFit/>
          </a:bodyPr>
          <a:lstStyle/>
          <a:p>
            <a:r>
              <a:rPr sz="2200" b="1">
                <a:latin typeface="Times New Roman"/>
              </a:rPr>
              <a:t>Household Use Cases</a:t>
            </a:r>
          </a:p>
          <a:p>
            <a:r>
              <a:rPr sz="1600">
                <a:latin typeface="Times New Roman"/>
              </a:rPr>
              <a:t>UC-1  Register / Login</a:t>
            </a:r>
          </a:p>
          <a:p>
            <a:r>
              <a:rPr sz="1600">
                <a:latin typeface="Times New Roman"/>
              </a:rPr>
              <a:t>UC-2  Profile &amp; Abbottabad Locality Setup</a:t>
            </a:r>
          </a:p>
          <a:p>
            <a:r>
              <a:rPr sz="1600">
                <a:latin typeface="Times New Roman"/>
              </a:rPr>
              <a:t>UC-3  Discover Workers via AI Recommender</a:t>
            </a:r>
          </a:p>
          <a:p>
            <a:r>
              <a:rPr sz="1600">
                <a:latin typeface="Times New Roman"/>
              </a:rPr>
              <a:t>UC-4  View Explainable AI (XAI) Match Badges</a:t>
            </a:r>
          </a:p>
          <a:p>
            <a:r>
              <a:rPr sz="1600">
                <a:latin typeface="Times New Roman"/>
              </a:rPr>
              <a:t>UC-5  Send Direct Booking Request</a:t>
            </a:r>
          </a:p>
          <a:p>
            <a:r>
              <a:rPr sz="1600">
                <a:latin typeface="Times New Roman"/>
              </a:rPr>
              <a:t>UC-6  Publish Open Household Gig</a:t>
            </a:r>
          </a:p>
          <a:p>
            <a:r>
              <a:rPr sz="1600">
                <a:latin typeface="Times New Roman"/>
              </a:rPr>
              <a:t>UC-7  Review Worker Job Applications</a:t>
            </a:r>
          </a:p>
          <a:p>
            <a:r>
              <a:rPr sz="1600">
                <a:latin typeface="Times New Roman"/>
              </a:rPr>
              <a:t>UC-8  Sign Digital Service Agreement</a:t>
            </a:r>
          </a:p>
          <a:p>
            <a:r>
              <a:rPr sz="1600">
                <a:latin typeface="Times New Roman"/>
              </a:rPr>
              <a:t>UC-9  Log Payment &amp; Upload Receipt</a:t>
            </a:r>
          </a:p>
          <a:p>
            <a:r>
              <a:rPr sz="1600">
                <a:latin typeface="Times New Roman"/>
              </a:rPr>
              <a:t>UC-10 Submit Multi-Dimensional Review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B46CF-3F86-51A3-E194-0DCBD57E02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1373A-1093-D12C-4DF4-585C19E3F571}"/>
              </a:ext>
            </a:extLst>
          </p:cNvPr>
          <p:cNvSpPr>
            <a:spLocks noGrp="1"/>
          </p:cNvSpPr>
          <p:nvPr>
            <p:ph type="title"/>
          </p:nvPr>
        </p:nvSpPr>
        <p:spPr/>
        <p:txBody>
          <a:bodyPr/>
          <a:lstStyle/>
          <a:p>
            <a:r>
              <a:rPr sz="3600">
                <a:latin typeface="Times New Roman"/>
              </a:rPr>
              <a:t>Use Cases(cont)</a:t>
            </a:r>
          </a:p>
        </p:txBody>
      </p:sp>
      <p:sp>
        <p:nvSpPr>
          <p:cNvPr id="4" name="Slide Number Placeholder 3">
            <a:extLst>
              <a:ext uri="{FF2B5EF4-FFF2-40B4-BE49-F238E27FC236}">
                <a16:creationId xmlns:a16="http://schemas.microsoft.com/office/drawing/2014/main" id="{69030F80-606A-8912-300D-C77C21BDC6FE}"/>
              </a:ext>
            </a:extLst>
          </p:cNvPr>
          <p:cNvSpPr>
            <a:spLocks noGrp="1"/>
          </p:cNvSpPr>
          <p:nvPr>
            <p:ph type="sldNum" sz="quarter" idx="12"/>
          </p:nvPr>
        </p:nvSpPr>
        <p:spPr/>
        <p:txBody>
          <a:bodyPr/>
          <a:lstStyle/>
          <a:p>
            <a:r>
              <a:rPr sz="1200">
                <a:latin typeface="Times New Roman"/>
              </a:rPr>
              <a:t>13</a:t>
            </a:r>
          </a:p>
        </p:txBody>
      </p:sp>
      <p:sp>
        <p:nvSpPr>
          <p:cNvPr id="9" name="TextBox 8">
            <a:extLst>
              <a:ext uri="{FF2B5EF4-FFF2-40B4-BE49-F238E27FC236}">
                <a16:creationId xmlns:a16="http://schemas.microsoft.com/office/drawing/2014/main" id="{C633B113-F4FF-9848-D96C-7A8EDF1810C3}"/>
              </a:ext>
            </a:extLst>
          </p:cNvPr>
          <p:cNvSpPr txBox="1"/>
          <p:nvPr/>
        </p:nvSpPr>
        <p:spPr>
          <a:xfrm>
            <a:off x="457200" y="1417638"/>
            <a:ext cx="7391400" cy="3637984"/>
          </a:xfrm>
          <a:prstGeom prst="rect">
            <a:avLst/>
          </a:prstGeom>
          <a:noFill/>
        </p:spPr>
        <p:txBody>
          <a:bodyPr wrap="square" rtlCol="0">
            <a:spAutoFit/>
          </a:bodyPr>
          <a:lstStyle/>
          <a:p>
            <a:r>
              <a:rPr sz="2200" b="1">
                <a:latin typeface="Times New Roman"/>
              </a:rPr>
              <a:t>Domestic Worker Use Cases</a:t>
            </a:r>
          </a:p>
          <a:p>
            <a:r>
              <a:rPr sz="1600">
                <a:latin typeface="Times New Roman"/>
              </a:rPr>
              <a:t>UC-11 Register / Login</a:t>
            </a:r>
          </a:p>
          <a:p>
            <a:r>
              <a:rPr sz="1600">
                <a:latin typeface="Times New Roman"/>
              </a:rPr>
              <a:t>UC-12 Setup Trade Profile &amp; Service Categories</a:t>
            </a:r>
          </a:p>
          <a:p>
            <a:r>
              <a:rPr sz="1600">
                <a:latin typeface="Times New Roman"/>
              </a:rPr>
              <a:t>UC-13 Submit KYC Verification (CNIC Upload)</a:t>
            </a:r>
          </a:p>
          <a:p>
            <a:r>
              <a:rPr sz="1600">
                <a:latin typeface="Times New Roman"/>
              </a:rPr>
              <a:t>UC-14 Configure Weekly Availability Calendar</a:t>
            </a:r>
          </a:p>
          <a:p>
            <a:r>
              <a:rPr sz="1600">
                <a:latin typeface="Times New Roman"/>
              </a:rPr>
              <a:t>UC-15 Browse Open Neighborhood Gigs Feed</a:t>
            </a:r>
          </a:p>
          <a:p>
            <a:r>
              <a:rPr sz="1600">
                <a:latin typeface="Times New Roman"/>
              </a:rPr>
              <a:t>UC-16 Submit One-Tap Job Application</a:t>
            </a:r>
          </a:p>
          <a:p>
            <a:r>
              <a:rPr sz="1600">
                <a:latin typeface="Times New Roman"/>
              </a:rPr>
              <a:t>UC-17 View &amp; Accept Direct Booking Invitations</a:t>
            </a:r>
          </a:p>
          <a:p>
            <a:r>
              <a:rPr sz="1600">
                <a:latin typeface="Times New Roman"/>
              </a:rPr>
              <a:t>UC-18 Sign Service Agreement &amp; Execute Chores</a:t>
            </a:r>
          </a:p>
          <a:p>
            <a:r>
              <a:rPr sz="1600">
                <a:latin typeface="Times New Roman"/>
              </a:rPr>
              <a:t>UC-19 Confirm Payment Receipt</a:t>
            </a:r>
          </a:p>
        </p:txBody>
      </p:sp>
    </p:spTree>
    <p:extLst>
      <p:ext uri="{BB962C8B-B14F-4D97-AF65-F5344CB8AC3E}">
        <p14:creationId xmlns:p14="http://schemas.microsoft.com/office/powerpoint/2010/main" val="2980080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A5D8D-CDF0-A01D-E6CA-F7EFC492DC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A82487-6FED-A0D6-C8A3-03813ACE8A45}"/>
              </a:ext>
            </a:extLst>
          </p:cNvPr>
          <p:cNvSpPr>
            <a:spLocks noGrp="1"/>
          </p:cNvSpPr>
          <p:nvPr>
            <p:ph type="title"/>
          </p:nvPr>
        </p:nvSpPr>
        <p:spPr/>
        <p:txBody>
          <a:bodyPr/>
          <a:lstStyle/>
          <a:p>
            <a:r>
              <a:rPr sz="3600">
                <a:latin typeface="Times New Roman"/>
              </a:rPr>
              <a:t>Use Cases(cont)</a:t>
            </a:r>
          </a:p>
        </p:txBody>
      </p:sp>
      <p:sp>
        <p:nvSpPr>
          <p:cNvPr id="4" name="Slide Number Placeholder 3">
            <a:extLst>
              <a:ext uri="{FF2B5EF4-FFF2-40B4-BE49-F238E27FC236}">
                <a16:creationId xmlns:a16="http://schemas.microsoft.com/office/drawing/2014/main" id="{737B0035-54E4-A6D6-7803-A7FB85E9F72A}"/>
              </a:ext>
            </a:extLst>
          </p:cNvPr>
          <p:cNvSpPr>
            <a:spLocks noGrp="1"/>
          </p:cNvSpPr>
          <p:nvPr>
            <p:ph type="sldNum" sz="quarter" idx="12"/>
          </p:nvPr>
        </p:nvSpPr>
        <p:spPr/>
        <p:txBody>
          <a:bodyPr/>
          <a:lstStyle/>
          <a:p>
            <a:r>
              <a:rPr sz="1200">
                <a:latin typeface="Times New Roman"/>
              </a:rPr>
              <a:t>14</a:t>
            </a:r>
          </a:p>
        </p:txBody>
      </p:sp>
      <p:sp>
        <p:nvSpPr>
          <p:cNvPr id="9" name="TextBox 8">
            <a:extLst>
              <a:ext uri="{FF2B5EF4-FFF2-40B4-BE49-F238E27FC236}">
                <a16:creationId xmlns:a16="http://schemas.microsoft.com/office/drawing/2014/main" id="{6ACE013E-D5F4-3472-2818-DD332EC47C76}"/>
              </a:ext>
            </a:extLst>
          </p:cNvPr>
          <p:cNvSpPr txBox="1"/>
          <p:nvPr/>
        </p:nvSpPr>
        <p:spPr>
          <a:xfrm>
            <a:off x="457200" y="1417638"/>
            <a:ext cx="7391400" cy="2714654"/>
          </a:xfrm>
          <a:prstGeom prst="rect">
            <a:avLst/>
          </a:prstGeom>
          <a:noFill/>
        </p:spPr>
        <p:txBody>
          <a:bodyPr wrap="square" rtlCol="0">
            <a:spAutoFit/>
          </a:bodyPr>
          <a:lstStyle/>
          <a:p>
            <a:r>
              <a:rPr sz="2200" b="1">
                <a:latin typeface="Times New Roman"/>
              </a:rPr>
              <a:t>Admin Use Cases</a:t>
            </a:r>
          </a:p>
          <a:p>
            <a:r>
              <a:rPr sz="1600">
                <a:latin typeface="Times New Roman"/>
              </a:rPr>
              <a:t>UC-20 Admin Authentication &amp; Console Login</a:t>
            </a:r>
          </a:p>
          <a:p>
            <a:r>
              <a:rPr sz="1600">
                <a:latin typeface="Times New Roman"/>
              </a:rPr>
              <a:t>UC-21 Review &amp; Approve/Reject Worker KYC (CNIC)</a:t>
            </a:r>
          </a:p>
          <a:p>
            <a:r>
              <a:rPr sz="1600">
                <a:latin typeface="Times New Roman"/>
              </a:rPr>
              <a:t>UC-22 Mediate &amp; Resolve Booking Disputes</a:t>
            </a:r>
          </a:p>
          <a:p>
            <a:r>
              <a:rPr sz="1600">
                <a:latin typeface="Times New Roman"/>
              </a:rPr>
              <a:t>UC-23 View System Analytics &amp; User Rosters</a:t>
            </a:r>
          </a:p>
          <a:p>
            <a:r>
              <a:rPr sz="1600">
                <a:latin typeface="Times New Roman"/>
              </a:rPr>
              <a:t>UC-24 Manage Domestic Service Categories &amp; Skills</a:t>
            </a:r>
          </a:p>
          <a:p>
            <a:r>
              <a:rPr sz="1600">
                <a:latin typeface="Times New Roman"/>
              </a:rPr>
              <a:t>UC-25 Suspend / Deactivate Non-Compliant Users</a:t>
            </a:r>
          </a:p>
          <a:p>
            <a:r>
              <a:rPr sz="1600">
                <a:latin typeface="Times New Roman"/>
              </a:rPr>
              <a:t>UC-26 Export Platform Audit Logs (CSV)</a:t>
            </a:r>
          </a:p>
        </p:txBody>
      </p:sp>
    </p:spTree>
    <p:extLst>
      <p:ext uri="{BB962C8B-B14F-4D97-AF65-F5344CB8AC3E}">
        <p14:creationId xmlns:p14="http://schemas.microsoft.com/office/powerpoint/2010/main" val="2101332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141A6-4032-94FE-8930-4CF7A25D13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2CEBC-5F7D-FCCD-D06B-BC82BBB989D4}"/>
              </a:ext>
            </a:extLst>
          </p:cNvPr>
          <p:cNvSpPr>
            <a:spLocks noGrp="1"/>
          </p:cNvSpPr>
          <p:nvPr>
            <p:ph type="title"/>
          </p:nvPr>
        </p:nvSpPr>
        <p:spPr/>
        <p:txBody>
          <a:bodyPr/>
          <a:lstStyle/>
          <a:p>
            <a:r>
              <a:rPr sz="3600">
                <a:latin typeface="Times New Roman"/>
              </a:rPr>
              <a:t>Use Cases(cont)</a:t>
            </a:r>
          </a:p>
        </p:txBody>
      </p:sp>
      <p:sp>
        <p:nvSpPr>
          <p:cNvPr id="4" name="Slide Number Placeholder 3">
            <a:extLst>
              <a:ext uri="{FF2B5EF4-FFF2-40B4-BE49-F238E27FC236}">
                <a16:creationId xmlns:a16="http://schemas.microsoft.com/office/drawing/2014/main" id="{C25B0565-947E-C125-693F-C020A3E4E4B9}"/>
              </a:ext>
            </a:extLst>
          </p:cNvPr>
          <p:cNvSpPr>
            <a:spLocks noGrp="1"/>
          </p:cNvSpPr>
          <p:nvPr>
            <p:ph type="sldNum" sz="quarter" idx="12"/>
          </p:nvPr>
        </p:nvSpPr>
        <p:spPr/>
        <p:txBody>
          <a:bodyPr/>
          <a:lstStyle/>
          <a:p>
            <a:r>
              <a:rPr sz="1200">
                <a:latin typeface="Times New Roman"/>
              </a:rPr>
              <a:t>15</a:t>
            </a:r>
          </a:p>
        </p:txBody>
      </p:sp>
      <p:sp>
        <p:nvSpPr>
          <p:cNvPr id="9" name="TextBox 8">
            <a:extLst>
              <a:ext uri="{FF2B5EF4-FFF2-40B4-BE49-F238E27FC236}">
                <a16:creationId xmlns:a16="http://schemas.microsoft.com/office/drawing/2014/main" id="{62EBD2EC-FDA4-C996-1F62-5869F4792D81}"/>
              </a:ext>
            </a:extLst>
          </p:cNvPr>
          <p:cNvSpPr txBox="1"/>
          <p:nvPr/>
        </p:nvSpPr>
        <p:spPr>
          <a:xfrm>
            <a:off x="457200" y="1417638"/>
            <a:ext cx="7391400" cy="1791324"/>
          </a:xfrm>
          <a:prstGeom prst="rect">
            <a:avLst/>
          </a:prstGeom>
          <a:noFill/>
        </p:spPr>
        <p:txBody>
          <a:bodyPr wrap="square" rtlCol="0">
            <a:spAutoFit/>
          </a:bodyPr>
          <a:lstStyle/>
          <a:p>
            <a:r>
              <a:rPr sz="2200" b="1">
                <a:latin typeface="Times New Roman"/>
              </a:rPr>
              <a:t>System &amp; Platform Use Cases</a:t>
            </a:r>
          </a:p>
          <a:p>
            <a:r>
              <a:rPr sz="1600">
                <a:latin typeface="Times New Roman"/>
              </a:rPr>
              <a:t>UC-27 Compute Content-Based Cosine Similarity</a:t>
            </a:r>
          </a:p>
          <a:p>
            <a:r>
              <a:rPr sz="1600">
                <a:latin typeface="Times New Roman"/>
              </a:rPr>
              <a:t>UC-28 Compute Haversine Geospatial Proximity Decay</a:t>
            </a:r>
          </a:p>
          <a:p>
            <a:r>
              <a:rPr sz="1600">
                <a:latin typeface="Times New Roman"/>
              </a:rPr>
              <a:t>UC-29 Generate Transparent Explainable AI (XAI) Badges</a:t>
            </a:r>
          </a:p>
          <a:p>
            <a:r>
              <a:rPr sz="1600">
                <a:latin typeface="Times New Roman"/>
              </a:rPr>
              <a:t>UC-30 Filter Bidirectional Job Feed by Proximity</a:t>
            </a:r>
          </a:p>
          <a:p>
            <a:r>
              <a:rPr sz="1600">
                <a:latin typeface="Times New Roman"/>
              </a:rPr>
              <a:t>UC-31 Enforce Double-Booking Concurrency Lock</a:t>
            </a:r>
          </a:p>
          <a:p>
            <a:r>
              <a:rPr sz="1600">
                <a:latin typeface="Times New Roman"/>
              </a:rPr>
              <a:t>UC-32 Dynamic Bilingual Language Toggle (EN / اردو)</a:t>
            </a:r>
          </a:p>
          <a:p>
            <a:r>
              <a:rPr sz="1600">
                <a:latin typeface="Times New Roman"/>
              </a:rPr>
              <a:t>UC-33 Render High-Affordance Pictorial Task Cards</a:t>
            </a:r>
          </a:p>
        </p:txBody>
      </p:sp>
    </p:spTree>
    <p:extLst>
      <p:ext uri="{BB962C8B-B14F-4D97-AF65-F5344CB8AC3E}">
        <p14:creationId xmlns:p14="http://schemas.microsoft.com/office/powerpoint/2010/main" val="3371349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latin typeface="Times New Roman"/>
              </a:rPr>
              <a:t>Use Case Diagram</a:t>
            </a:r>
          </a:p>
        </p:txBody>
      </p:sp>
      <p:sp>
        <p:nvSpPr>
          <p:cNvPr id="4" name="Slide Number Placeholder 3"/>
          <p:cNvSpPr>
            <a:spLocks noGrp="1"/>
          </p:cNvSpPr>
          <p:nvPr>
            <p:ph type="sldNum" sz="quarter" idx="12"/>
          </p:nvPr>
        </p:nvSpPr>
        <p:spPr/>
        <p:txBody>
          <a:bodyPr/>
          <a:lstStyle/>
          <a:p>
            <a:r>
              <a:rPr sz="1200">
                <a:latin typeface="Times New Roman"/>
              </a:rPr>
              <a:t>16</a:t>
            </a:r>
          </a:p>
        </p:txBody>
      </p:sp>
      <p:pic>
        <p:nvPicPr>
          <p:cNvPr id="5" name="Picture 4" descr="Use_Case_Diagram.png"/>
          <p:cNvPicPr>
            <a:picLocks noChangeAspect="1"/>
          </p:cNvPicPr>
          <p:nvPr/>
        </p:nvPicPr>
        <p:blipFill>
          <a:blip r:embed="rId3"/>
          <a:stretch>
            <a:fillRect/>
          </a:stretch>
        </p:blipFill>
        <p:spPr>
          <a:xfrm>
            <a:off x="1743311" y="1200000"/>
            <a:ext cx="5657377" cy="510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36525"/>
            <a:ext cx="8229600" cy="2239962"/>
          </a:xfrm>
        </p:spPr>
        <p:txBody>
          <a:bodyPr>
            <a:normAutofit/>
          </a:bodyPr>
          <a:lstStyle/>
          <a:p>
            <a:r>
              <a:rPr sz="3600">
                <a:latin typeface="Times New Roman"/>
              </a:rPr>
              <a:t>Architecture Diagram</a:t>
            </a:r>
          </a:p>
        </p:txBody>
      </p:sp>
      <p:sp>
        <p:nvSpPr>
          <p:cNvPr id="4" name="Slide Number Placeholder 3"/>
          <p:cNvSpPr>
            <a:spLocks noGrp="1"/>
          </p:cNvSpPr>
          <p:nvPr>
            <p:ph type="sldNum" sz="quarter" idx="12"/>
          </p:nvPr>
        </p:nvSpPr>
        <p:spPr/>
        <p:txBody>
          <a:bodyPr/>
          <a:lstStyle/>
          <a:p>
            <a:r>
              <a:rPr sz="1200">
                <a:latin typeface="Times New Roman"/>
              </a:rPr>
              <a:t>17</a:t>
            </a:r>
          </a:p>
        </p:txBody>
      </p:sp>
      <p:pic>
        <p:nvPicPr>
          <p:cNvPr id="5" name="Picture 4" descr="Architecture.png"/>
          <p:cNvPicPr>
            <a:picLocks noChangeAspect="1"/>
          </p:cNvPicPr>
          <p:nvPr/>
        </p:nvPicPr>
        <p:blipFill>
          <a:blip r:embed="rId3"/>
          <a:stretch>
            <a:fillRect/>
          </a:stretch>
        </p:blipFill>
        <p:spPr>
          <a:xfrm>
            <a:off x="457200" y="1365148"/>
            <a:ext cx="8229600" cy="486970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9E8CB-D634-A9FA-3D08-78E780BB10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5CAAA2-807C-F3F6-4193-4303A13EF838}"/>
              </a:ext>
            </a:extLst>
          </p:cNvPr>
          <p:cNvSpPr>
            <a:spLocks noGrp="1"/>
          </p:cNvSpPr>
          <p:nvPr>
            <p:ph type="title"/>
          </p:nvPr>
        </p:nvSpPr>
        <p:spPr>
          <a:xfrm>
            <a:off x="304800" y="142140"/>
            <a:ext cx="8229600" cy="2239962"/>
          </a:xfrm>
        </p:spPr>
        <p:txBody>
          <a:bodyPr>
            <a:normAutofit/>
          </a:bodyPr>
          <a:lstStyle/>
          <a:p>
            <a:r>
              <a:rPr sz="3600">
                <a:latin typeface="Times New Roman"/>
              </a:rPr>
              <a:t>Process Flow Diagram</a:t>
            </a:r>
          </a:p>
        </p:txBody>
      </p:sp>
      <p:sp>
        <p:nvSpPr>
          <p:cNvPr id="4" name="Slide Number Placeholder 3">
            <a:extLst>
              <a:ext uri="{FF2B5EF4-FFF2-40B4-BE49-F238E27FC236}">
                <a16:creationId xmlns:a16="http://schemas.microsoft.com/office/drawing/2014/main" id="{FD07F3C2-DBE6-529E-3DCF-ED000FBE6388}"/>
              </a:ext>
            </a:extLst>
          </p:cNvPr>
          <p:cNvSpPr>
            <a:spLocks noGrp="1"/>
          </p:cNvSpPr>
          <p:nvPr>
            <p:ph type="sldNum" sz="quarter" idx="12"/>
          </p:nvPr>
        </p:nvSpPr>
        <p:spPr/>
        <p:txBody>
          <a:bodyPr/>
          <a:lstStyle/>
          <a:p>
            <a:r>
              <a:rPr sz="1200">
                <a:latin typeface="Times New Roman"/>
              </a:rPr>
              <a:t>18</a:t>
            </a:r>
          </a:p>
        </p:txBody>
      </p:sp>
      <p:pic>
        <p:nvPicPr>
          <p:cNvPr id="5" name="Picture 4" descr="ProcessFlow.png"/>
          <p:cNvPicPr>
            <a:picLocks noChangeAspect="1"/>
          </p:cNvPicPr>
          <p:nvPr/>
        </p:nvPicPr>
        <p:blipFill>
          <a:blip r:embed="rId3"/>
          <a:stretch>
            <a:fillRect/>
          </a:stretch>
        </p:blipFill>
        <p:spPr>
          <a:xfrm>
            <a:off x="3308344" y="1200000"/>
            <a:ext cx="2527311" cy="5200000"/>
          </a:xfrm>
          <a:prstGeom prst="rect">
            <a:avLst/>
          </a:prstGeom>
        </p:spPr>
      </p:pic>
    </p:spTree>
    <p:extLst>
      <p:ext uri="{BB962C8B-B14F-4D97-AF65-F5344CB8AC3E}">
        <p14:creationId xmlns:p14="http://schemas.microsoft.com/office/powerpoint/2010/main" val="1655695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latin typeface="Times New Roman"/>
              </a:rPr>
              <a:t>Class Diagram</a:t>
            </a:r>
          </a:p>
        </p:txBody>
      </p:sp>
      <p:sp>
        <p:nvSpPr>
          <p:cNvPr id="4" name="Slide Number Placeholder 3"/>
          <p:cNvSpPr>
            <a:spLocks noGrp="1"/>
          </p:cNvSpPr>
          <p:nvPr>
            <p:ph type="sldNum" sz="quarter" idx="12"/>
          </p:nvPr>
        </p:nvSpPr>
        <p:spPr/>
        <p:txBody>
          <a:bodyPr/>
          <a:lstStyle/>
          <a:p>
            <a:r>
              <a:rPr sz="1200">
                <a:latin typeface="Times New Roman"/>
              </a:rPr>
              <a:t>19</a:t>
            </a:r>
          </a:p>
        </p:txBody>
      </p:sp>
      <p:pic>
        <p:nvPicPr>
          <p:cNvPr id="5" name="Picture 4" descr="Class.png"/>
          <p:cNvPicPr>
            <a:picLocks noChangeAspect="1"/>
          </p:cNvPicPr>
          <p:nvPr/>
        </p:nvPicPr>
        <p:blipFill>
          <a:blip r:embed="rId3"/>
          <a:stretch>
            <a:fillRect/>
          </a:stretch>
        </p:blipFill>
        <p:spPr>
          <a:xfrm>
            <a:off x="1001636" y="1200000"/>
            <a:ext cx="7140727" cy="5100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latin typeface="Times New Roman"/>
              </a:rPr>
              <a:t>Sequence Diagram</a:t>
            </a:r>
          </a:p>
        </p:txBody>
      </p:sp>
      <p:sp>
        <p:nvSpPr>
          <p:cNvPr id="4" name="Slide Number Placeholder 3"/>
          <p:cNvSpPr>
            <a:spLocks noGrp="1"/>
          </p:cNvSpPr>
          <p:nvPr>
            <p:ph type="sldNum" sz="quarter" idx="12"/>
          </p:nvPr>
        </p:nvSpPr>
        <p:spPr/>
        <p:txBody>
          <a:bodyPr/>
          <a:lstStyle/>
          <a:p>
            <a:r>
              <a:rPr sz="1200">
                <a:latin typeface="Times New Roman"/>
              </a:rPr>
              <a:t>20</a:t>
            </a:r>
          </a:p>
        </p:txBody>
      </p:sp>
      <p:pic>
        <p:nvPicPr>
          <p:cNvPr id="5" name="Picture 4" descr="Sequence.png"/>
          <p:cNvPicPr>
            <a:picLocks noChangeAspect="1"/>
          </p:cNvPicPr>
          <p:nvPr/>
        </p:nvPicPr>
        <p:blipFill>
          <a:blip r:embed="rId3"/>
          <a:stretch>
            <a:fillRect/>
          </a:stretch>
        </p:blipFill>
        <p:spPr>
          <a:xfrm>
            <a:off x="2663837" y="1200000"/>
            <a:ext cx="3816326" cy="5100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latin typeface="Times New Roman"/>
              </a:rPr>
              <a:t>Activity/State Machine Diagram</a:t>
            </a:r>
          </a:p>
        </p:txBody>
      </p:sp>
      <p:sp>
        <p:nvSpPr>
          <p:cNvPr id="4" name="Slide Number Placeholder 3"/>
          <p:cNvSpPr>
            <a:spLocks noGrp="1"/>
          </p:cNvSpPr>
          <p:nvPr>
            <p:ph type="sldNum" sz="quarter" idx="12"/>
          </p:nvPr>
        </p:nvSpPr>
        <p:spPr/>
        <p:txBody>
          <a:bodyPr/>
          <a:lstStyle/>
          <a:p>
            <a:r>
              <a:rPr sz="1200">
                <a:latin typeface="Times New Roman"/>
              </a:rPr>
              <a:t>21</a:t>
            </a:r>
          </a:p>
        </p:txBody>
      </p:sp>
      <p:pic>
        <p:nvPicPr>
          <p:cNvPr id="5" name="Picture 4" descr="StateTransition.png"/>
          <p:cNvPicPr>
            <a:picLocks noChangeAspect="1"/>
          </p:cNvPicPr>
          <p:nvPr/>
        </p:nvPicPr>
        <p:blipFill>
          <a:blip r:embed="rId3"/>
          <a:stretch>
            <a:fillRect/>
          </a:stretch>
        </p:blipFill>
        <p:spPr>
          <a:xfrm>
            <a:off x="2962077" y="1200000"/>
            <a:ext cx="3219845" cy="5100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latin typeface="Times New Roman"/>
              </a:rPr>
              <a:t>ER Diagram</a:t>
            </a:r>
          </a:p>
        </p:txBody>
      </p:sp>
      <p:sp>
        <p:nvSpPr>
          <p:cNvPr id="4" name="Slide Number Placeholder 3"/>
          <p:cNvSpPr>
            <a:spLocks noGrp="1"/>
          </p:cNvSpPr>
          <p:nvPr>
            <p:ph type="sldNum" sz="quarter" idx="12"/>
          </p:nvPr>
        </p:nvSpPr>
        <p:spPr/>
        <p:txBody>
          <a:bodyPr/>
          <a:lstStyle/>
          <a:p>
            <a:r>
              <a:rPr sz="1200">
                <a:latin typeface="Times New Roman"/>
              </a:rPr>
              <a:t>22</a:t>
            </a:r>
          </a:p>
        </p:txBody>
      </p:sp>
      <p:pic>
        <p:nvPicPr>
          <p:cNvPr id="5" name="Picture 4" descr="ERD.png"/>
          <p:cNvPicPr>
            <a:picLocks noChangeAspect="1"/>
          </p:cNvPicPr>
          <p:nvPr/>
        </p:nvPicPr>
        <p:blipFill>
          <a:blip r:embed="rId3"/>
          <a:stretch>
            <a:fillRect/>
          </a:stretch>
        </p:blipFill>
        <p:spPr>
          <a:xfrm>
            <a:off x="1943553" y="1200000"/>
            <a:ext cx="5256893" cy="5100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sz="3600">
                <a:latin typeface="Times New Roman"/>
              </a:rPr>
              <a:t>Summary of Project Implementation</a:t>
            </a:r>
          </a:p>
        </p:txBody>
      </p:sp>
      <p:sp>
        <p:nvSpPr>
          <p:cNvPr id="3" name="Content Placeholder 2"/>
          <p:cNvSpPr>
            <a:spLocks noGrp="1"/>
          </p:cNvSpPr>
          <p:nvPr>
            <p:ph idx="1"/>
          </p:nvPr>
        </p:nvSpPr>
        <p:spPr>
          <a:xfrm>
            <a:off x="457200" y="1600200"/>
            <a:ext cx="8382000" cy="5257800"/>
          </a:xfrm>
        </p:spPr>
        <p:txBody>
          <a:bodyPr>
            <a:noAutofit/>
          </a:bodyPr>
          <a:lstStyle/>
          <a:p>
            <a:r>
              <a:rPr sz="1500" b="1">
                <a:latin typeface="Times New Roman"/>
              </a:rPr>
              <a:t>Multi-role platform architecture: </a:t>
            </a:r>
            <a:r>
              <a:rPr sz="1500">
                <a:latin typeface="Times New Roman"/>
              </a:rPr>
              <a:t>HomeEase is designed as a unified ecosystem with dedicated interfaces for households, domestic workers, and administrators, so each user type can perform tasks relevant to their role.</a:t>
            </a:r>
          </a:p>
          <a:p>
            <a:r>
              <a:rPr sz="1500" b="1">
                <a:latin typeface="Times New Roman"/>
              </a:rPr>
              <a:t>Cross-platform mobile application: </a:t>
            </a:r>
            <a:r>
              <a:rPr sz="1500">
                <a:latin typeface="Times New Roman"/>
              </a:rPr>
              <a:t>Built with Flutter &amp; Dart, supporting rapid responsive performance, seamless role-switching, and full onboarding for both households and domestic workers.</a:t>
            </a:r>
          </a:p>
          <a:p>
            <a:r>
              <a:rPr sz="1500" b="1">
                <a:latin typeface="Times New Roman"/>
              </a:rPr>
              <a:t>Content-Based AI Recommender System: </a:t>
            </a:r>
            <a:r>
              <a:rPr sz="1500">
                <a:latin typeface="Times New Roman"/>
              </a:rPr>
              <a:t>Instead of static dropdown filters, the system computes Cosine Similarity on skill vectors, Haversine geospatial proximity decay across Abbottabad coordinates, and min-max rating normalization with transparent Explainable AI (XAI) badges.</a:t>
            </a:r>
          </a:p>
          <a:p>
            <a:r>
              <a:rPr sz="1500" b="1">
                <a:latin typeface="Times New Roman"/>
              </a:rPr>
              <a:t>Bidirectional job marketplace: </a:t>
            </a:r>
            <a:r>
              <a:rPr sz="1500">
                <a:latin typeface="Times New Roman"/>
              </a:rPr>
              <a:t>Allows households to publish open gigs specifying budget, schedule, and chore checklists, while domestic workers actively browse local neighbourhood feeds and apply with single-tap ease.</a:t>
            </a:r>
          </a:p>
          <a:p>
            <a:r>
              <a:rPr sz="1500" b="1">
                <a:latin typeface="Times New Roman"/>
              </a:rPr>
              <a:t>Booking &amp; digital service agreements: </a:t>
            </a:r>
            <a:r>
              <a:rPr sz="1500">
                <a:latin typeface="Times New Roman"/>
              </a:rPr>
              <a:t>End-to-end booking management supporting scheduling, transactional double-booking prevention, auto-generated service agreements with digital sign-off, and structured state transitions.</a:t>
            </a:r>
          </a:p>
        </p:txBody>
      </p:sp>
      <p:sp>
        <p:nvSpPr>
          <p:cNvPr id="4" name="Slide Number Placeholder 3"/>
          <p:cNvSpPr>
            <a:spLocks noGrp="1"/>
          </p:cNvSpPr>
          <p:nvPr>
            <p:ph type="sldNum" sz="quarter" idx="12"/>
          </p:nvPr>
        </p:nvSpPr>
        <p:spPr/>
        <p:txBody>
          <a:bodyPr/>
          <a:lstStyle/>
          <a:p>
            <a:r>
              <a:rPr sz="1200">
                <a:latin typeface="Times New Roman"/>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62121-E899-D912-B3B6-31FE2EE5F5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893A83-AA7A-1797-972B-FE10A5625921}"/>
              </a:ext>
            </a:extLst>
          </p:cNvPr>
          <p:cNvSpPr>
            <a:spLocks noGrp="1"/>
          </p:cNvSpPr>
          <p:nvPr>
            <p:ph type="title"/>
          </p:nvPr>
        </p:nvSpPr>
        <p:spPr/>
        <p:txBody>
          <a:bodyPr>
            <a:normAutofit fontScale="90000"/>
          </a:bodyPr>
          <a:lstStyle/>
          <a:p>
            <a:r>
              <a:rPr sz="3600">
                <a:latin typeface="Times New Roman"/>
              </a:rPr>
              <a:t>Summary of Project Implementation (cont.)</a:t>
            </a:r>
          </a:p>
        </p:txBody>
      </p:sp>
      <p:sp>
        <p:nvSpPr>
          <p:cNvPr id="3" name="Content Placeholder 2">
            <a:extLst>
              <a:ext uri="{FF2B5EF4-FFF2-40B4-BE49-F238E27FC236}">
                <a16:creationId xmlns:a16="http://schemas.microsoft.com/office/drawing/2014/main" id="{ECC9F76B-8F5C-99E4-C310-A80BA5EA2FB5}"/>
              </a:ext>
            </a:extLst>
          </p:cNvPr>
          <p:cNvSpPr>
            <a:spLocks noGrp="1"/>
          </p:cNvSpPr>
          <p:nvPr>
            <p:ph idx="1"/>
          </p:nvPr>
        </p:nvSpPr>
        <p:spPr>
          <a:xfrm>
            <a:off x="457200" y="1600200"/>
            <a:ext cx="8382000" cy="4983162"/>
          </a:xfrm>
        </p:spPr>
        <p:txBody>
          <a:bodyPr>
            <a:noAutofit/>
          </a:bodyPr>
          <a:lstStyle/>
          <a:p>
            <a:r>
              <a:rPr sz="1500" b="1">
                <a:latin typeface="Times New Roman"/>
              </a:rPr>
              <a:t>Admin control and verification: </a:t>
            </a:r>
            <a:r>
              <a:rPr sz="1500">
                <a:latin typeface="Times New Roman"/>
              </a:rPr>
              <a:t>The React/Vite admin dashboard supports inspection and verification of worker CNIC documents, approval/rejection workflows, and platform-level governance ensuring trust across Abbottabad.</a:t>
            </a:r>
          </a:p>
          <a:p>
            <a:r>
              <a:rPr sz="1500" b="1">
                <a:latin typeface="Times New Roman"/>
              </a:rPr>
              <a:t>Bilingual localization &amp; visual affordances: </a:t>
            </a:r>
            <a:r>
              <a:rPr sz="1500">
                <a:latin typeface="Times New Roman"/>
              </a:rPr>
              <a:t>The platform includes complete English and Urdu (اردو) localization with right-to-left layout adaptation and high-contrast pictorial icons for low-literacy informal workers.</a:t>
            </a:r>
          </a:p>
          <a:p>
            <a:r>
              <a:rPr sz="1500" b="1">
                <a:latin typeface="Times New Roman"/>
              </a:rPr>
              <a:t>Manual payment audit trail: </a:t>
            </a:r>
            <a:r>
              <a:rPr sz="1500">
                <a:latin typeface="Times New Roman"/>
              </a:rPr>
              <a:t>Supports logging of Cash, JazzCash, and EasyPaisa transactions with digital receipt screenshot uploads and worker receipt confirmation.</a:t>
            </a:r>
          </a:p>
          <a:p>
            <a:r>
              <a:rPr sz="1500" b="1">
                <a:latin typeface="Times New Roman"/>
              </a:rPr>
              <a:t>Dispute resolution workflow: </a:t>
            </a:r>
            <a:r>
              <a:rPr sz="1500">
                <a:latin typeface="Times New Roman"/>
              </a:rPr>
              <a:t>Allows parties to submit evidence-backed dispute tickets with photos and descriptions for administrative arbitration.</a:t>
            </a:r>
          </a:p>
          <a:p>
            <a:r>
              <a:rPr sz="1500" b="1">
                <a:latin typeface="Times New Roman"/>
              </a:rPr>
              <a:t>Secure and scalable relational backend: </a:t>
            </a:r>
            <a:r>
              <a:rPr sz="1500">
                <a:latin typeface="Times New Roman"/>
              </a:rPr>
              <a:t>Centralized Supabase PostgreSQL database featuring 16 normalized relational tables, strict foreign key constraints, and 24 Row Level Security (RLS) policies guaranteeing data isolation and security.</a:t>
            </a:r>
          </a:p>
        </p:txBody>
      </p:sp>
      <p:sp>
        <p:nvSpPr>
          <p:cNvPr id="4" name="Slide Number Placeholder 3">
            <a:extLst>
              <a:ext uri="{FF2B5EF4-FFF2-40B4-BE49-F238E27FC236}">
                <a16:creationId xmlns:a16="http://schemas.microsoft.com/office/drawing/2014/main" id="{BE81EDF1-98B2-8F48-ED5D-CA6D8B6AA852}"/>
              </a:ext>
            </a:extLst>
          </p:cNvPr>
          <p:cNvSpPr>
            <a:spLocks noGrp="1"/>
          </p:cNvSpPr>
          <p:nvPr>
            <p:ph type="sldNum" sz="quarter" idx="12"/>
          </p:nvPr>
        </p:nvSpPr>
        <p:spPr/>
        <p:txBody>
          <a:bodyPr/>
          <a:lstStyle/>
          <a:p>
            <a:r>
              <a:rPr sz="1200">
                <a:latin typeface="Times New Roman"/>
              </a:rPr>
              <a:t>24</a:t>
            </a:r>
          </a:p>
        </p:txBody>
      </p:sp>
    </p:spTree>
    <p:extLst>
      <p:ext uri="{BB962C8B-B14F-4D97-AF65-F5344CB8AC3E}">
        <p14:creationId xmlns:p14="http://schemas.microsoft.com/office/powerpoint/2010/main" val="195099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955"/>
            <a:ext cx="8229600" cy="1143000"/>
          </a:xfrm>
        </p:spPr>
        <p:txBody>
          <a:bodyPr/>
          <a:lstStyle/>
          <a:p>
            <a:r>
              <a:rPr sz="3600">
                <a:latin typeface="Times New Roman"/>
              </a:rPr>
              <a:t>Schedule</a:t>
            </a:r>
          </a:p>
        </p:txBody>
      </p:sp>
      <p:sp>
        <p:nvSpPr>
          <p:cNvPr id="4" name="Slide Number Placeholder 3"/>
          <p:cNvSpPr>
            <a:spLocks noGrp="1"/>
          </p:cNvSpPr>
          <p:nvPr>
            <p:ph type="sldNum" sz="quarter" idx="12"/>
          </p:nvPr>
        </p:nvSpPr>
        <p:spPr/>
        <p:txBody>
          <a:bodyPr/>
          <a:lstStyle/>
          <a:p>
            <a:r>
              <a:rPr sz="1200">
                <a:latin typeface="Times New Roman"/>
              </a:rPr>
              <a:t>25</a:t>
            </a:r>
          </a:p>
        </p:txBody>
      </p:sp>
      <p:pic>
        <p:nvPicPr>
          <p:cNvPr id="5" name="Picture 4" descr="Schedule_Gantt.png"/>
          <p:cNvPicPr>
            <a:picLocks noChangeAspect="1"/>
          </p:cNvPicPr>
          <p:nvPr/>
        </p:nvPicPr>
        <p:blipFill>
          <a:blip r:embed="rId3"/>
          <a:stretch>
            <a:fillRect/>
          </a:stretch>
        </p:blipFill>
        <p:spPr>
          <a:xfrm>
            <a:off x="457200" y="1555564"/>
            <a:ext cx="8229600" cy="448887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latin typeface="Times New Roman"/>
              </a:rPr>
              <a:t>Details of next Iteration (100%)</a:t>
            </a:r>
          </a:p>
        </p:txBody>
      </p:sp>
      <p:sp>
        <p:nvSpPr>
          <p:cNvPr id="3" name="Content Placeholder 2"/>
          <p:cNvSpPr>
            <a:spLocks noGrp="1"/>
          </p:cNvSpPr>
          <p:nvPr>
            <p:ph idx="1"/>
          </p:nvPr>
        </p:nvSpPr>
        <p:spPr>
          <a:xfrm>
            <a:off x="457200" y="1600200"/>
            <a:ext cx="8229600" cy="4983162"/>
          </a:xfrm>
        </p:spPr>
        <p:txBody>
          <a:bodyPr>
            <a:normAutofit fontScale="95000"/>
          </a:bodyPr>
          <a:lstStyle/>
          <a:p>
            <a:r>
              <a:rPr sz="1800" b="1">
                <a:latin typeface="Times New Roman"/>
              </a:rPr>
              <a:t>Real-Time Communication System</a:t>
            </a:r>
          </a:p>
          <a:p>
            <a:r>
              <a:rPr sz="1400">
                <a:latin typeface="Times New Roman"/>
              </a:rPr>
              <a:t>Bidirectional in-app live chat between households and domestic workers using Supabase Realtime WebSockets</a:t>
            </a:r>
          </a:p>
          <a:p>
            <a:r>
              <a:rPr sz="1400">
                <a:latin typeface="Times New Roman"/>
              </a:rPr>
              <a:t>In-app audio voice messaging to empower illiterate and low-literacy domestic workers</a:t>
            </a:r>
          </a:p>
          <a:p>
            <a:r>
              <a:rPr sz="1400">
                <a:latin typeface="Times New Roman"/>
              </a:rPr>
              <a:t>Read receipts and message delivery indicators</a:t>
            </a:r>
          </a:p>
          <a:p>
            <a:r>
              <a:rPr sz="1800" b="1">
                <a:latin typeface="Times New Roman"/>
              </a:rPr>
              <a:t>Automated Push Notification Infrastructure</a:t>
            </a:r>
          </a:p>
          <a:p>
            <a:r>
              <a:rPr sz="1400">
                <a:latin typeface="Times New Roman"/>
              </a:rPr>
              <a:t>Firebase Cloud Messaging (FCM) integration for real-time mobile push notifications</a:t>
            </a:r>
          </a:p>
          <a:p>
            <a:r>
              <a:rPr sz="1400">
                <a:latin typeface="Times New Roman"/>
              </a:rPr>
              <a:t>Automated alerts for new job applications, booking responses, payment confirmations, and reminders</a:t>
            </a:r>
          </a:p>
          <a:p>
            <a:r>
              <a:rPr sz="1400">
                <a:latin typeface="Times New Roman"/>
              </a:rPr>
              <a:t>In-app notification center for persistent system alerts and updates</a:t>
            </a:r>
          </a:p>
        </p:txBody>
      </p:sp>
      <p:sp>
        <p:nvSpPr>
          <p:cNvPr id="4" name="Slide Number Placeholder 3"/>
          <p:cNvSpPr>
            <a:spLocks noGrp="1"/>
          </p:cNvSpPr>
          <p:nvPr>
            <p:ph type="sldNum" sz="quarter" idx="12"/>
          </p:nvPr>
        </p:nvSpPr>
        <p:spPr/>
        <p:txBody>
          <a:bodyPr/>
          <a:lstStyle/>
          <a:p>
            <a:r>
              <a:rPr sz="1200">
                <a:latin typeface="Times New Roman"/>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AA796-F8B3-F4AF-E7D5-5A23A69A9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3BB72B-2223-5A6F-DE52-78134ECB137E}"/>
              </a:ext>
            </a:extLst>
          </p:cNvPr>
          <p:cNvSpPr>
            <a:spLocks noGrp="1"/>
          </p:cNvSpPr>
          <p:nvPr>
            <p:ph type="title"/>
          </p:nvPr>
        </p:nvSpPr>
        <p:spPr/>
        <p:txBody>
          <a:bodyPr/>
          <a:lstStyle/>
          <a:p>
            <a:r>
              <a:rPr sz="3600">
                <a:latin typeface="Times New Roman"/>
              </a:rPr>
              <a:t>Details of next Iteration (100%)</a:t>
            </a:r>
          </a:p>
        </p:txBody>
      </p:sp>
      <p:sp>
        <p:nvSpPr>
          <p:cNvPr id="3" name="Content Placeholder 2">
            <a:extLst>
              <a:ext uri="{FF2B5EF4-FFF2-40B4-BE49-F238E27FC236}">
                <a16:creationId xmlns:a16="http://schemas.microsoft.com/office/drawing/2014/main" id="{463FF1BE-2595-1927-E51A-BD970130197F}"/>
              </a:ext>
            </a:extLst>
          </p:cNvPr>
          <p:cNvSpPr>
            <a:spLocks noGrp="1"/>
          </p:cNvSpPr>
          <p:nvPr>
            <p:ph idx="1"/>
          </p:nvPr>
        </p:nvSpPr>
        <p:spPr>
          <a:xfrm>
            <a:off x="457200" y="1600200"/>
            <a:ext cx="8229600" cy="4983162"/>
          </a:xfrm>
        </p:spPr>
        <p:txBody>
          <a:bodyPr>
            <a:normAutofit fontScale="95000"/>
          </a:bodyPr>
          <a:lstStyle/>
          <a:p>
            <a:r>
              <a:rPr sz="1800" b="1">
                <a:latin typeface="Times New Roman"/>
              </a:rPr>
              <a:t>Payment Gateway &amp; Escrow Automation</a:t>
            </a:r>
          </a:p>
          <a:p>
            <a:r>
              <a:rPr sz="1400">
                <a:latin typeface="Times New Roman"/>
              </a:rPr>
              <a:t>Direct integration with Pakistani mobile payment APIs (JazzCash, EasyPaisa, 1Link)</a:t>
            </a:r>
          </a:p>
          <a:p>
            <a:r>
              <a:rPr sz="1400">
                <a:latin typeface="Times New Roman"/>
              </a:rPr>
              <a:t>Milestone-based digital escrow holding funds until domestic chores are verified as completed</a:t>
            </a:r>
          </a:p>
          <a:p>
            <a:r>
              <a:rPr sz="1400">
                <a:latin typeface="Times New Roman"/>
              </a:rPr>
              <a:t>Detailed receipt downloading and monthly household expenditure statements</a:t>
            </a:r>
          </a:p>
          <a:p>
            <a:r>
              <a:rPr sz="1800" b="1">
                <a:latin typeface="Times New Roman"/>
              </a:rPr>
              <a:t>Advanced Identity &amp; Security Hardening</a:t>
            </a:r>
          </a:p>
          <a:p>
            <a:r>
              <a:rPr sz="1400">
                <a:latin typeface="Times New Roman"/>
              </a:rPr>
              <a:t>Live Pakistani mobile SMS OTP verification to eliminate fraudulent registrations</a:t>
            </a:r>
          </a:p>
          <a:p>
            <a:r>
              <a:rPr sz="1400">
                <a:latin typeface="Times New Roman"/>
              </a:rPr>
              <a:t>NADRA-compliant CNIC verification API integration exploration for enhanced trust</a:t>
            </a:r>
          </a:p>
          <a:p>
            <a:r>
              <a:rPr sz="1400">
                <a:latin typeface="Times New Roman"/>
              </a:rPr>
              <a:t>Biometric fingerprint / face unlock for mobile worker login</a:t>
            </a:r>
          </a:p>
        </p:txBody>
      </p:sp>
      <p:sp>
        <p:nvSpPr>
          <p:cNvPr id="4" name="Slide Number Placeholder 3">
            <a:extLst>
              <a:ext uri="{FF2B5EF4-FFF2-40B4-BE49-F238E27FC236}">
                <a16:creationId xmlns:a16="http://schemas.microsoft.com/office/drawing/2014/main" id="{D64968FB-58F4-60C8-46EA-ADA266D12927}"/>
              </a:ext>
            </a:extLst>
          </p:cNvPr>
          <p:cNvSpPr>
            <a:spLocks noGrp="1"/>
          </p:cNvSpPr>
          <p:nvPr>
            <p:ph type="sldNum" sz="quarter" idx="12"/>
          </p:nvPr>
        </p:nvSpPr>
        <p:spPr/>
        <p:txBody>
          <a:bodyPr/>
          <a:lstStyle/>
          <a:p>
            <a:r>
              <a:rPr sz="1200">
                <a:latin typeface="Times New Roman"/>
              </a:rPr>
              <a:t>27</a:t>
            </a:r>
          </a:p>
        </p:txBody>
      </p:sp>
    </p:spTree>
    <p:extLst>
      <p:ext uri="{BB962C8B-B14F-4D97-AF65-F5344CB8AC3E}">
        <p14:creationId xmlns:p14="http://schemas.microsoft.com/office/powerpoint/2010/main" val="38525666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130D3-1D55-EF59-6EBD-8E8C36DEA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93F4F-8F0F-C892-2C08-A2D2533B7F0F}"/>
              </a:ext>
            </a:extLst>
          </p:cNvPr>
          <p:cNvSpPr>
            <a:spLocks noGrp="1"/>
          </p:cNvSpPr>
          <p:nvPr>
            <p:ph type="title"/>
          </p:nvPr>
        </p:nvSpPr>
        <p:spPr/>
        <p:txBody>
          <a:bodyPr/>
          <a:lstStyle/>
          <a:p>
            <a:r>
              <a:rPr sz="3600">
                <a:latin typeface="Times New Roman"/>
              </a:rPr>
              <a:t>Details of next Iteration (100%)</a:t>
            </a:r>
          </a:p>
        </p:txBody>
      </p:sp>
      <p:sp>
        <p:nvSpPr>
          <p:cNvPr id="3" name="Content Placeholder 2">
            <a:extLst>
              <a:ext uri="{FF2B5EF4-FFF2-40B4-BE49-F238E27FC236}">
                <a16:creationId xmlns:a16="http://schemas.microsoft.com/office/drawing/2014/main" id="{4BEE90E8-CC76-1213-140F-1A85AD3FB2DA}"/>
              </a:ext>
            </a:extLst>
          </p:cNvPr>
          <p:cNvSpPr>
            <a:spLocks noGrp="1"/>
          </p:cNvSpPr>
          <p:nvPr>
            <p:ph idx="1"/>
          </p:nvPr>
        </p:nvSpPr>
        <p:spPr>
          <a:xfrm>
            <a:off x="457200" y="1600200"/>
            <a:ext cx="8229600" cy="4983162"/>
          </a:xfrm>
        </p:spPr>
        <p:txBody>
          <a:bodyPr>
            <a:normAutofit fontScale="87500"/>
          </a:bodyPr>
          <a:lstStyle/>
          <a:p>
            <a:r>
              <a:rPr sz="1800" b="1">
                <a:latin typeface="Times New Roman"/>
              </a:rPr>
              <a:t>Dispute Resolution &amp; Policy Enforcement</a:t>
            </a:r>
          </a:p>
          <a:p>
            <a:r>
              <a:rPr sz="1400">
                <a:latin typeface="Times New Roman"/>
              </a:rPr>
              <a:t>Tiered penalty scoring and automated temporary account suspension for repeated cancellations</a:t>
            </a:r>
          </a:p>
          <a:p>
            <a:r>
              <a:rPr sz="1400">
                <a:latin typeface="Times New Roman"/>
              </a:rPr>
              <a:t>Comprehensive dispute arbitration console with audit trails and settlement logs</a:t>
            </a:r>
          </a:p>
          <a:p>
            <a:r>
              <a:rPr sz="1800" b="1">
                <a:latin typeface="Times New Roman"/>
              </a:rPr>
              <a:t>Deployment and Production Hardening</a:t>
            </a:r>
          </a:p>
          <a:p>
            <a:r>
              <a:rPr sz="1400">
                <a:latin typeface="Times New Roman"/>
              </a:rPr>
              <a:t>Migration of KYC documents and receipt uploads to secure S3 / Supabase cloud storage buckets</a:t>
            </a:r>
          </a:p>
          <a:p>
            <a:r>
              <a:rPr sz="1400">
                <a:latin typeface="Times New Roman"/>
              </a:rPr>
              <a:t>Empirical usability testing and pilot deployment with real households and workers in Abbottabad</a:t>
            </a:r>
          </a:p>
          <a:p>
            <a:r>
              <a:rPr sz="1400">
                <a:latin typeface="Times New Roman"/>
              </a:rPr>
              <a:t>Full regression testing, algorithmic latency benchmarking, and performance optimization</a:t>
            </a:r>
          </a:p>
          <a:p>
            <a:r>
              <a:rPr sz="1400">
                <a:latin typeface="Times New Roman"/>
              </a:rPr>
              <a:t>Comprehensive final thesis documentation, user manual, and live defense demonstration</a:t>
            </a:r>
          </a:p>
        </p:txBody>
      </p:sp>
      <p:sp>
        <p:nvSpPr>
          <p:cNvPr id="4" name="Slide Number Placeholder 3">
            <a:extLst>
              <a:ext uri="{FF2B5EF4-FFF2-40B4-BE49-F238E27FC236}">
                <a16:creationId xmlns:a16="http://schemas.microsoft.com/office/drawing/2014/main" id="{46A581AA-1D70-003A-4309-DB0E109886DA}"/>
              </a:ext>
            </a:extLst>
          </p:cNvPr>
          <p:cNvSpPr>
            <a:spLocks noGrp="1"/>
          </p:cNvSpPr>
          <p:nvPr>
            <p:ph type="sldNum" sz="quarter" idx="12"/>
          </p:nvPr>
        </p:nvSpPr>
        <p:spPr/>
        <p:txBody>
          <a:bodyPr/>
          <a:lstStyle/>
          <a:p>
            <a:r>
              <a:rPr sz="1200">
                <a:latin typeface="Times New Roman"/>
              </a:rPr>
              <a:t>28</a:t>
            </a:r>
          </a:p>
        </p:txBody>
      </p:sp>
    </p:spTree>
    <p:extLst>
      <p:ext uri="{BB962C8B-B14F-4D97-AF65-F5344CB8AC3E}">
        <p14:creationId xmlns:p14="http://schemas.microsoft.com/office/powerpoint/2010/main" val="1693253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539</TotalTime>
  <Words>1670</Words>
  <Application>Microsoft Office PowerPoint</Application>
  <PresentationFormat>On-screen Show (4:3)</PresentationFormat>
  <Paragraphs>221</Paragraphs>
  <Slides>28</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Times New Roman</vt:lpstr>
      <vt:lpstr>Office Theme</vt:lpstr>
      <vt:lpstr>Project Title: TrekPal</vt:lpstr>
      <vt:lpstr>Agenda of the Presentation</vt:lpstr>
      <vt:lpstr>Brief Introduction</vt:lpstr>
      <vt:lpstr>Scope</vt:lpstr>
      <vt:lpstr>Scope(cont)</vt:lpstr>
      <vt:lpstr>Functional Requirements</vt:lpstr>
      <vt:lpstr>Functional Requirements(Cont.)</vt:lpstr>
      <vt:lpstr>Functional Requirements(Cont.)</vt:lpstr>
      <vt:lpstr>Functional Requirements(Cont.)</vt:lpstr>
      <vt:lpstr>Non-Functional Requirements</vt:lpstr>
      <vt:lpstr>User Goals</vt:lpstr>
      <vt:lpstr>Use Cases </vt:lpstr>
      <vt:lpstr>Use Cases(cont) </vt:lpstr>
      <vt:lpstr>Use Cases(cont) </vt:lpstr>
      <vt:lpstr>Use Cases(cont) </vt:lpstr>
      <vt:lpstr>Use Case Diagram </vt:lpstr>
      <vt:lpstr>Process flow Diagram  Traveler flow </vt:lpstr>
      <vt:lpstr>Process Flow Diagram   Agency Flow</vt:lpstr>
      <vt:lpstr>Class Diagram </vt:lpstr>
      <vt:lpstr>Sequence Diagram </vt:lpstr>
      <vt:lpstr>Activity/State Machine Diagram </vt:lpstr>
      <vt:lpstr>ER Diagram</vt:lpstr>
      <vt:lpstr>Summary of Project Implementation</vt:lpstr>
      <vt:lpstr>Summary of Project Implementation (cont.)</vt:lpstr>
      <vt:lpstr>Schedule </vt:lpstr>
      <vt:lpstr>Details of next Iteration (100%)</vt:lpstr>
      <vt:lpstr>Details of next Iteration (100%)</vt:lpstr>
      <vt:lpstr>Details of next Iteration (100%)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USER</dc:creator>
  <cp:lastModifiedBy>Abuzar Khan</cp:lastModifiedBy>
  <cp:revision>133</cp:revision>
  <dcterms:created xsi:type="dcterms:W3CDTF">2013-09-23T09:08:00Z</dcterms:created>
  <dcterms:modified xsi:type="dcterms:W3CDTF">2026-05-03T17:28:25Z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085EEEFC757E43DD9AB9708F4290A311_13</vt:lpwstr>
  </property>
  <property fmtid="{D5CDD505-2E9C-101B-9397-08002B2CF9AE}" pid="3" name="KSOProductBuildVer">
    <vt:lpwstr>1033-12.2.0.21546</vt:lpwstr>
  </property>
</Properties>
</file>